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0" r:id="rId7"/>
    <p:sldId id="261" r:id="rId8"/>
  </p:sldIdLst>
  <p:sldSz cx="9144000" cy="6858000" type="overhead"/>
  <p:notesSz cx="6888163" cy="1002188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60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5489-9797-43A9-B097-A4BDE76AEAA3}" type="datetimeFigureOut">
              <a:rPr lang="zh-TW" altLang="en-US" smtClean="0"/>
              <a:pPr/>
              <a:t>2024/7/9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33F8-23C0-4AC0-B0E6-C5EB245BEBC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639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5489-9797-43A9-B097-A4BDE76AEAA3}" type="datetimeFigureOut">
              <a:rPr lang="zh-TW" altLang="en-US" smtClean="0"/>
              <a:pPr/>
              <a:t>2024/7/9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33F8-23C0-4AC0-B0E6-C5EB245BEBC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2478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5489-9797-43A9-B097-A4BDE76AEAA3}" type="datetimeFigureOut">
              <a:rPr lang="zh-TW" altLang="en-US" smtClean="0"/>
              <a:pPr/>
              <a:t>2024/7/9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33F8-23C0-4AC0-B0E6-C5EB245BEBC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9670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5489-9797-43A9-B097-A4BDE76AEAA3}" type="datetimeFigureOut">
              <a:rPr lang="zh-TW" altLang="en-US" smtClean="0"/>
              <a:pPr/>
              <a:t>2024/7/9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33F8-23C0-4AC0-B0E6-C5EB245BEBC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2238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5489-9797-43A9-B097-A4BDE76AEAA3}" type="datetimeFigureOut">
              <a:rPr lang="zh-TW" altLang="en-US" smtClean="0"/>
              <a:pPr/>
              <a:t>2024/7/9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33F8-23C0-4AC0-B0E6-C5EB245BEBC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7366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5489-9797-43A9-B097-A4BDE76AEAA3}" type="datetimeFigureOut">
              <a:rPr lang="zh-TW" altLang="en-US" smtClean="0"/>
              <a:pPr/>
              <a:t>2024/7/9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33F8-23C0-4AC0-B0E6-C5EB245BEBC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8199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5489-9797-43A9-B097-A4BDE76AEAA3}" type="datetimeFigureOut">
              <a:rPr lang="zh-TW" altLang="en-US" smtClean="0"/>
              <a:pPr/>
              <a:t>2024/7/9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33F8-23C0-4AC0-B0E6-C5EB245BEBC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6827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5489-9797-43A9-B097-A4BDE76AEAA3}" type="datetimeFigureOut">
              <a:rPr lang="zh-TW" altLang="en-US" smtClean="0"/>
              <a:pPr/>
              <a:t>2024/7/9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33F8-23C0-4AC0-B0E6-C5EB245BEBC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936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5489-9797-43A9-B097-A4BDE76AEAA3}" type="datetimeFigureOut">
              <a:rPr lang="zh-TW" altLang="en-US" smtClean="0"/>
              <a:pPr/>
              <a:t>2024/7/9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33F8-23C0-4AC0-B0E6-C5EB245BEBC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3143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5489-9797-43A9-B097-A4BDE76AEAA3}" type="datetimeFigureOut">
              <a:rPr lang="zh-TW" altLang="en-US" smtClean="0"/>
              <a:pPr/>
              <a:t>2024/7/9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33F8-23C0-4AC0-B0E6-C5EB245BEBC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5983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5489-9797-43A9-B097-A4BDE76AEAA3}" type="datetimeFigureOut">
              <a:rPr lang="zh-TW" altLang="en-US" smtClean="0"/>
              <a:pPr/>
              <a:t>2024/7/9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33F8-23C0-4AC0-B0E6-C5EB245BEBC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3849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95489-9797-43A9-B097-A4BDE76AEAA3}" type="datetimeFigureOut">
              <a:rPr lang="zh-TW" altLang="en-US" smtClean="0"/>
              <a:pPr/>
              <a:t>2024/7/9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B33F8-23C0-4AC0-B0E6-C5EB245BEBC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6626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oo2k.com/archives/190012" TargetMode="External"/><Relationship Id="rId2" Type="http://schemas.openxmlformats.org/officeDocument/2006/relationships/hyperlink" Target="https://tw.wamazing.com/media/article/a-2141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ourney.tw/jr-misumi/" TargetMode="External"/><Relationship Id="rId5" Type="http://schemas.openxmlformats.org/officeDocument/2006/relationships/hyperlink" Target="https://achelink.com/meisui-hyakusen-shirakawa-suigen/" TargetMode="External"/><Relationship Id="rId4" Type="http://schemas.openxmlformats.org/officeDocument/2006/relationships/hyperlink" Target="https://flyblog.cc/takamori-temple/#google_vignette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612801"/>
              </p:ext>
            </p:extLst>
          </p:nvPr>
        </p:nvGraphicFramePr>
        <p:xfrm>
          <a:off x="5026834" y="1058368"/>
          <a:ext cx="3993596" cy="57949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94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05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413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天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日期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上午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下午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住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旅館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錢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1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7/27</a:t>
                      </a:r>
                    </a:p>
                    <a:p>
                      <a:pPr algn="ctr"/>
                      <a:r>
                        <a:rPr lang="zh-TW" altLang="en-US" sz="1400" dirty="0"/>
                        <a:t>六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準備出國</a:t>
                      </a:r>
                      <a:endParaRPr lang="en-US" altLang="zh-TW" sz="1000" dirty="0"/>
                    </a:p>
                    <a:p>
                      <a:r>
                        <a:rPr lang="zh-TW" altLang="en-US" sz="1000" dirty="0"/>
                        <a:t>香草航空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1230</a:t>
                      </a:r>
                      <a:r>
                        <a:rPr lang="zh-TW" altLang="en-US" sz="1000" dirty="0"/>
                        <a:t>機場</a:t>
                      </a:r>
                      <a:endParaRPr lang="en-US" altLang="zh-TW" sz="1000" dirty="0"/>
                    </a:p>
                    <a:p>
                      <a:r>
                        <a:rPr lang="en-US" altLang="zh-TW" sz="1000" dirty="0"/>
                        <a:t>1400</a:t>
                      </a:r>
                      <a:r>
                        <a:rPr lang="zh-TW" altLang="en-US" sz="1000" dirty="0"/>
                        <a:t>報到</a:t>
                      </a:r>
                      <a:endParaRPr lang="en-US" altLang="zh-TW" sz="1000" dirty="0"/>
                    </a:p>
                    <a:p>
                      <a:r>
                        <a:rPr lang="en-US" altLang="zh-TW" sz="1000" dirty="0"/>
                        <a:t>1700-2020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博多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/>
                        <a:t>東橫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en-US" altLang="zh-TW" sz="900" dirty="0"/>
                        <a:t>INN</a:t>
                      </a:r>
                    </a:p>
                    <a:p>
                      <a:pPr algn="ctr"/>
                      <a:r>
                        <a:rPr lang="zh-TW" altLang="en-US" sz="900" dirty="0"/>
                        <a:t>西中州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4</a:t>
                      </a:r>
                      <a:r>
                        <a:rPr lang="zh-TW" altLang="en-US" sz="800" dirty="0"/>
                        <a:t>人</a:t>
                      </a:r>
                      <a:r>
                        <a:rPr lang="en-US" altLang="zh-TW" sz="800" dirty="0"/>
                        <a:t>1 </a:t>
                      </a:r>
                      <a:r>
                        <a:rPr lang="zh-TW" altLang="en-US" sz="800" dirty="0"/>
                        <a:t>間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zh-TW" altLang="en-US" sz="800" dirty="0"/>
                        <a:t>雙床 早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3281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1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7/28</a:t>
                      </a:r>
                    </a:p>
                    <a:p>
                      <a:pPr algn="ctr"/>
                      <a:r>
                        <a:rPr lang="zh-TW" altLang="en-US" sz="1400" dirty="0"/>
                        <a:t>日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JR</a:t>
                      </a:r>
                      <a:r>
                        <a:rPr lang="zh-TW" altLang="en-US" sz="1000" dirty="0"/>
                        <a:t>音速號</a:t>
                      </a:r>
                      <a:endParaRPr lang="en-US" altLang="zh-TW" sz="1000" dirty="0"/>
                    </a:p>
                    <a:p>
                      <a:r>
                        <a:rPr lang="zh-TW" altLang="en-US" sz="1200" dirty="0"/>
                        <a:t>門司港</a:t>
                      </a:r>
                      <a:endParaRPr lang="en-US" altLang="zh-TW" sz="12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下關</a:t>
                      </a:r>
                      <a:endParaRPr lang="en-US" altLang="zh-TW" sz="1200" dirty="0"/>
                    </a:p>
                    <a:p>
                      <a:r>
                        <a:rPr lang="zh-TW" altLang="en-US" sz="1200" dirty="0"/>
                        <a:t>小倉</a:t>
                      </a:r>
                      <a:endParaRPr lang="en-US" altLang="zh-TW" sz="12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博多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 err="1"/>
                        <a:t>Comforthotel</a:t>
                      </a:r>
                      <a:endParaRPr lang="en-US" altLang="zh-TW" sz="9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/>
                        <a:t>博多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4</a:t>
                      </a:r>
                      <a:r>
                        <a:rPr lang="zh-TW" altLang="en-US" sz="800" dirty="0"/>
                        <a:t>人</a:t>
                      </a:r>
                      <a:r>
                        <a:rPr lang="en-US" altLang="zh-TW" sz="800" dirty="0"/>
                        <a:t>1 </a:t>
                      </a:r>
                      <a:r>
                        <a:rPr lang="zh-TW" altLang="en-US" sz="800" dirty="0"/>
                        <a:t>間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zh-TW" altLang="en-US" sz="800" dirty="0"/>
                        <a:t>雙床 早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2656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1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7/29</a:t>
                      </a:r>
                    </a:p>
                    <a:p>
                      <a:pPr algn="ctr"/>
                      <a:r>
                        <a:rPr lang="zh-TW" altLang="en-US" sz="1400" dirty="0"/>
                        <a:t>一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JR</a:t>
                      </a:r>
                      <a:r>
                        <a:rPr lang="zh-TW" altLang="en-US" sz="1000" dirty="0"/>
                        <a:t>海鷗列車</a:t>
                      </a:r>
                      <a:endParaRPr lang="en-US" altLang="zh-TW" sz="1000" dirty="0"/>
                    </a:p>
                    <a:p>
                      <a:r>
                        <a:rPr lang="en-US" altLang="zh-TW" sz="1000" dirty="0"/>
                        <a:t>9:15-11:24</a:t>
                      </a:r>
                      <a:r>
                        <a:rPr lang="zh-TW" altLang="en-US" sz="1000" dirty="0"/>
                        <a:t> 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長崎市區觀光左稻山夜景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長崎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/>
                        <a:t>古歐萊站前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4</a:t>
                      </a:r>
                      <a:r>
                        <a:rPr lang="zh-TW" altLang="en-US" sz="800" dirty="0"/>
                        <a:t>人</a:t>
                      </a:r>
                      <a:r>
                        <a:rPr lang="en-US" altLang="zh-TW" sz="800" dirty="0"/>
                        <a:t>1 </a:t>
                      </a:r>
                      <a:r>
                        <a:rPr lang="zh-TW" altLang="en-US" sz="800" dirty="0"/>
                        <a:t>間</a:t>
                      </a:r>
                    </a:p>
                    <a:p>
                      <a:pPr algn="ctr"/>
                      <a:r>
                        <a:rPr lang="zh-TW" altLang="en-US" sz="800" dirty="0"/>
                        <a:t>雙床 早</a:t>
                      </a:r>
                    </a:p>
                    <a:p>
                      <a:pPr algn="ctr"/>
                      <a:r>
                        <a:rPr lang="en-US" altLang="zh-TW" sz="800" dirty="0"/>
                        <a:t>704</a:t>
                      </a:r>
                      <a:r>
                        <a:rPr lang="zh-TW" altLang="en-US" sz="800" dirty="0"/>
                        <a:t>元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1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7/30</a:t>
                      </a:r>
                    </a:p>
                    <a:p>
                      <a:pPr algn="ctr"/>
                      <a:r>
                        <a:rPr lang="zh-TW" altLang="en-US" sz="1400" dirty="0"/>
                        <a:t>二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JR</a:t>
                      </a:r>
                      <a:r>
                        <a:rPr lang="zh-TW" altLang="en-US" sz="1000" dirty="0"/>
                        <a:t>海岸線列車</a:t>
                      </a:r>
                      <a:endParaRPr lang="en-US" altLang="zh-TW" sz="1000" dirty="0"/>
                    </a:p>
                    <a:p>
                      <a:r>
                        <a:rPr lang="zh-TW" altLang="en-US" sz="1000" dirty="0"/>
                        <a:t>移動至佐世保 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九十九島</a:t>
                      </a:r>
                    </a:p>
                    <a:p>
                      <a:r>
                        <a:rPr lang="zh-TW" altLang="en-US" sz="1000" dirty="0"/>
                        <a:t>水族館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佐世保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/>
                        <a:t>東橫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en-US" altLang="zh-TW" sz="900" dirty="0"/>
                        <a:t>INN</a:t>
                      </a:r>
                    </a:p>
                    <a:p>
                      <a:pPr algn="ctr"/>
                      <a:r>
                        <a:rPr lang="zh-TW" altLang="en-US" sz="900" dirty="0"/>
                        <a:t>站前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4</a:t>
                      </a:r>
                      <a:r>
                        <a:rPr lang="zh-TW" altLang="en-US" sz="800" dirty="0"/>
                        <a:t>人</a:t>
                      </a:r>
                      <a:r>
                        <a:rPr lang="en-US" altLang="zh-TW" sz="800" dirty="0"/>
                        <a:t>1 </a:t>
                      </a:r>
                      <a:r>
                        <a:rPr lang="zh-TW" altLang="en-US" sz="800" dirty="0"/>
                        <a:t>間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zh-TW" altLang="en-US" sz="800" dirty="0"/>
                        <a:t>雙床 早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2926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1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7/31</a:t>
                      </a:r>
                    </a:p>
                    <a:p>
                      <a:pPr algn="ctr"/>
                      <a:r>
                        <a:rPr lang="zh-TW" altLang="en-US" sz="1400" dirty="0"/>
                        <a:t>三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豪斯登堡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豪斯登堡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佐世保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/>
                        <a:t>東橫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en-US" altLang="zh-TW" sz="900" dirty="0"/>
                        <a:t>INN</a:t>
                      </a:r>
                    </a:p>
                    <a:p>
                      <a:pPr algn="ctr"/>
                      <a:r>
                        <a:rPr lang="zh-TW" altLang="en-US" sz="900" dirty="0"/>
                        <a:t>站前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4</a:t>
                      </a:r>
                      <a:r>
                        <a:rPr lang="zh-TW" altLang="en-US" sz="800" dirty="0"/>
                        <a:t>人</a:t>
                      </a:r>
                      <a:r>
                        <a:rPr lang="en-US" altLang="zh-TW" sz="800" dirty="0"/>
                        <a:t>1 </a:t>
                      </a:r>
                      <a:r>
                        <a:rPr lang="zh-TW" altLang="en-US" sz="800" dirty="0"/>
                        <a:t>間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zh-TW" altLang="en-US" sz="800" dirty="0"/>
                        <a:t>雙床 早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2926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71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8/1</a:t>
                      </a:r>
                    </a:p>
                    <a:p>
                      <a:pPr algn="ctr"/>
                      <a:r>
                        <a:rPr lang="zh-TW" altLang="en-US" sz="1400" dirty="0"/>
                        <a:t>四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900" dirty="0"/>
                        <a:t>佐世保</a:t>
                      </a:r>
                      <a:r>
                        <a:rPr lang="en-US" altLang="zh-TW" sz="9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900" dirty="0">
                          <a:sym typeface="Wingdings" panose="05000000000000000000" pitchFamily="2" charset="2"/>
                        </a:rPr>
                        <a:t>博多</a:t>
                      </a:r>
                      <a:endParaRPr lang="en-US" altLang="zh-TW" sz="900" dirty="0">
                        <a:sym typeface="Wingdings" panose="05000000000000000000" pitchFamily="2" charset="2"/>
                      </a:endParaRPr>
                    </a:p>
                    <a:p>
                      <a:r>
                        <a:rPr lang="zh-TW" altLang="en-US" sz="900" dirty="0">
                          <a:sym typeface="Wingdings" panose="05000000000000000000" pitchFamily="2" charset="2"/>
                        </a:rPr>
                        <a:t>博多</a:t>
                      </a:r>
                      <a:r>
                        <a:rPr lang="en-US" altLang="zh-TW" sz="9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900" dirty="0">
                          <a:sym typeface="Wingdings" panose="05000000000000000000" pitchFamily="2" charset="2"/>
                        </a:rPr>
                        <a:t>大分</a:t>
                      </a:r>
                      <a:endParaRPr lang="en-US" altLang="zh-TW" sz="900" dirty="0">
                        <a:sym typeface="Wingdings" panose="05000000000000000000" pitchFamily="2" charset="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高崎動物園</a:t>
                      </a:r>
                    </a:p>
                    <a:p>
                      <a:r>
                        <a:rPr lang="zh-TW" altLang="en-US" sz="1000" dirty="0"/>
                        <a:t>大分水族館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大分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/>
                        <a:t>東橫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en-US" altLang="zh-TW" sz="900" dirty="0"/>
                        <a:t>INN</a:t>
                      </a:r>
                    </a:p>
                    <a:p>
                      <a:pPr algn="ctr"/>
                      <a:r>
                        <a:rPr lang="zh-TW" altLang="en-US" sz="900" dirty="0"/>
                        <a:t>站前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4</a:t>
                      </a:r>
                      <a:r>
                        <a:rPr lang="zh-TW" altLang="en-US" sz="800" dirty="0"/>
                        <a:t>人</a:t>
                      </a:r>
                      <a:r>
                        <a:rPr lang="en-US" altLang="zh-TW" sz="800" dirty="0"/>
                        <a:t>1 </a:t>
                      </a:r>
                      <a:r>
                        <a:rPr lang="zh-TW" altLang="en-US" sz="800" dirty="0"/>
                        <a:t>間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zh-TW" altLang="en-US" sz="800" dirty="0"/>
                        <a:t>雙床 早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2224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1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8/2</a:t>
                      </a:r>
                    </a:p>
                    <a:p>
                      <a:pPr algn="ctr"/>
                      <a:r>
                        <a:rPr lang="zh-TW" altLang="en-US" sz="1400" dirty="0"/>
                        <a:t>五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九州自然野生動物園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動物園</a:t>
                      </a:r>
                      <a:endParaRPr lang="en-US" altLang="zh-TW" sz="100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別府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大分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/>
                        <a:t>東橫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en-US" altLang="zh-TW" sz="900" dirty="0"/>
                        <a:t>INN</a:t>
                      </a:r>
                    </a:p>
                    <a:p>
                      <a:pPr algn="ctr"/>
                      <a:r>
                        <a:rPr lang="zh-TW" altLang="en-US" sz="900" dirty="0"/>
                        <a:t>站前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4</a:t>
                      </a:r>
                      <a:r>
                        <a:rPr lang="zh-TW" altLang="en-US" sz="800" dirty="0"/>
                        <a:t>人</a:t>
                      </a:r>
                      <a:r>
                        <a:rPr lang="en-US" altLang="zh-TW" sz="800" dirty="0"/>
                        <a:t>1 </a:t>
                      </a:r>
                      <a:r>
                        <a:rPr lang="zh-TW" altLang="en-US" sz="800" dirty="0"/>
                        <a:t>間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zh-TW" altLang="en-US" sz="800" dirty="0"/>
                        <a:t>雙床 早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2224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21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8/3</a:t>
                      </a:r>
                    </a:p>
                    <a:p>
                      <a:pPr algn="ctr"/>
                      <a:r>
                        <a:rPr lang="zh-TW" altLang="en-US" sz="1400" dirty="0"/>
                        <a:t>六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由布岳健行</a:t>
                      </a:r>
                      <a:endParaRPr lang="en-US" altLang="zh-TW" sz="1000" dirty="0"/>
                    </a:p>
                    <a:p>
                      <a:r>
                        <a:rPr lang="zh-TW" altLang="en-US" sz="1000" dirty="0"/>
                        <a:t>湯布院逛街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金麟湖</a:t>
                      </a:r>
                      <a:endParaRPr lang="en-US" altLang="zh-TW" sz="1000" dirty="0"/>
                    </a:p>
                    <a:p>
                      <a:r>
                        <a:rPr lang="zh-TW" altLang="en-US" sz="1000" dirty="0"/>
                        <a:t>由布院之森</a:t>
                      </a:r>
                      <a:endParaRPr lang="en-US" altLang="zh-TW" sz="1000" dirty="0"/>
                    </a:p>
                    <a:p>
                      <a:r>
                        <a:rPr lang="en-US" altLang="zh-TW" sz="1000" dirty="0"/>
                        <a:t>15:50 – 17:31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博多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 err="1"/>
                        <a:t>Comforthotel</a:t>
                      </a:r>
                      <a:endParaRPr lang="en-US" altLang="zh-TW" sz="9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/>
                        <a:t>博多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4</a:t>
                      </a:r>
                      <a:r>
                        <a:rPr lang="zh-TW" altLang="en-US" sz="800" dirty="0"/>
                        <a:t>人</a:t>
                      </a:r>
                      <a:r>
                        <a:rPr lang="en-US" altLang="zh-TW" sz="800" dirty="0"/>
                        <a:t>1 </a:t>
                      </a:r>
                      <a:r>
                        <a:rPr lang="zh-TW" altLang="en-US" sz="800" dirty="0"/>
                        <a:t>間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zh-TW" altLang="en-US" sz="800" dirty="0"/>
                        <a:t>雙床 早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5556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21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8/4</a:t>
                      </a:r>
                    </a:p>
                    <a:p>
                      <a:pPr algn="ctr"/>
                      <a:r>
                        <a:rPr lang="zh-TW" altLang="en-US" sz="1400" dirty="0"/>
                        <a:t>日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0630</a:t>
                      </a:r>
                      <a:r>
                        <a:rPr lang="zh-TW" altLang="en-US" sz="1000" dirty="0"/>
                        <a:t>機場</a:t>
                      </a:r>
                      <a:endParaRPr lang="en-US" altLang="zh-TW" sz="1000" dirty="0"/>
                    </a:p>
                    <a:p>
                      <a:r>
                        <a:rPr lang="en-US" altLang="zh-TW" sz="1000" dirty="0"/>
                        <a:t>0730</a:t>
                      </a:r>
                      <a:r>
                        <a:rPr lang="zh-TW" altLang="en-US" sz="1000" dirty="0"/>
                        <a:t>報到</a:t>
                      </a:r>
                      <a:endParaRPr lang="en-US" altLang="zh-TW" sz="1000" dirty="0"/>
                    </a:p>
                    <a:p>
                      <a:r>
                        <a:rPr lang="en-US" altLang="zh-TW" sz="1000" dirty="0"/>
                        <a:t>0930-1100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香草航空</a:t>
                      </a:r>
                      <a:endParaRPr lang="en-US" altLang="zh-TW" sz="1000" dirty="0"/>
                    </a:p>
                    <a:p>
                      <a:r>
                        <a:rPr lang="zh-TW" altLang="en-US" sz="1000" dirty="0"/>
                        <a:t>整理行李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台北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800" dirty="0"/>
                        <a:t>去程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13496</a:t>
                      </a:r>
                    </a:p>
                    <a:p>
                      <a:pPr algn="ctr"/>
                      <a:r>
                        <a:rPr lang="zh-TW" altLang="en-US" sz="800" dirty="0"/>
                        <a:t>回程</a:t>
                      </a:r>
                      <a:r>
                        <a:rPr lang="en-US" altLang="zh-TW" sz="800" dirty="0"/>
                        <a:t>14898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1" name="文字方塊 50"/>
          <p:cNvSpPr txBox="1"/>
          <p:nvPr/>
        </p:nvSpPr>
        <p:spPr>
          <a:xfrm>
            <a:off x="0" y="95423"/>
            <a:ext cx="4946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2019/0727-0804/ </a:t>
            </a:r>
            <a:r>
              <a:rPr lang="zh-TW" altLang="en-US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北九州 </a:t>
            </a:r>
            <a:r>
              <a:rPr lang="en-US" altLang="zh-TW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</a:t>
            </a:r>
            <a:r>
              <a:rPr lang="zh-TW" altLang="en-US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日火車 自助行程</a:t>
            </a:r>
          </a:p>
        </p:txBody>
      </p:sp>
      <p:sp>
        <p:nvSpPr>
          <p:cNvPr id="52" name="文字方塊 51"/>
          <p:cNvSpPr txBox="1"/>
          <p:nvPr/>
        </p:nvSpPr>
        <p:spPr>
          <a:xfrm>
            <a:off x="185058" y="451053"/>
            <a:ext cx="51372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00" dirty="0"/>
              <a:t>飛機</a:t>
            </a:r>
            <a:r>
              <a:rPr lang="en-US" altLang="zh-TW" sz="1100" dirty="0"/>
              <a:t>:</a:t>
            </a:r>
            <a:r>
              <a:rPr lang="zh-TW" altLang="en-US" sz="1100" dirty="0"/>
              <a:t>香草</a:t>
            </a:r>
            <a:r>
              <a:rPr lang="en-US" altLang="zh-TW" sz="1100" b="1" dirty="0">
                <a:solidFill>
                  <a:srgbClr val="FF0000"/>
                </a:solidFill>
              </a:rPr>
              <a:t>28394</a:t>
            </a:r>
            <a:r>
              <a:rPr lang="zh-TW" altLang="en-US" sz="1100" b="1" dirty="0">
                <a:solidFill>
                  <a:srgbClr val="FF0000"/>
                </a:solidFill>
              </a:rPr>
              <a:t>元</a:t>
            </a:r>
            <a:r>
              <a:rPr lang="zh-TW" altLang="en-US" sz="1100" dirty="0"/>
              <a:t>  住宿</a:t>
            </a:r>
            <a:r>
              <a:rPr lang="en-US" altLang="zh-TW" sz="1100" dirty="0"/>
              <a:t>:8</a:t>
            </a:r>
            <a:r>
              <a:rPr lang="zh-TW" altLang="en-US" sz="1100" dirty="0"/>
              <a:t>晚</a:t>
            </a:r>
            <a:r>
              <a:rPr lang="en-US" altLang="zh-TW" sz="1100" b="1" dirty="0">
                <a:solidFill>
                  <a:srgbClr val="FF0000"/>
                </a:solidFill>
              </a:rPr>
              <a:t>20052</a:t>
            </a:r>
            <a:r>
              <a:rPr lang="zh-TW" altLang="en-US" sz="1100" b="1" dirty="0">
                <a:solidFill>
                  <a:srgbClr val="FF0000"/>
                </a:solidFill>
              </a:rPr>
              <a:t>元</a:t>
            </a:r>
            <a:r>
              <a:rPr lang="zh-TW" altLang="en-US" sz="1100" dirty="0"/>
              <a:t>  食物 </a:t>
            </a:r>
            <a:r>
              <a:rPr lang="en-US" altLang="zh-TW" sz="1100" dirty="0"/>
              <a:t>:</a:t>
            </a:r>
            <a:r>
              <a:rPr lang="en-US" altLang="zh-TW" sz="1100" b="1" dirty="0">
                <a:solidFill>
                  <a:srgbClr val="FF0000"/>
                </a:solidFill>
              </a:rPr>
              <a:t>12122</a:t>
            </a:r>
            <a:r>
              <a:rPr lang="zh-TW" altLang="en-US" sz="1100" b="1" dirty="0">
                <a:solidFill>
                  <a:srgbClr val="FF0000"/>
                </a:solidFill>
              </a:rPr>
              <a:t>元   </a:t>
            </a:r>
            <a:r>
              <a:rPr lang="zh-TW" altLang="en-US" sz="1100" dirty="0"/>
              <a:t>門票</a:t>
            </a:r>
            <a:r>
              <a:rPr lang="en-US" altLang="zh-TW" sz="1100" b="1" dirty="0"/>
              <a:t>:</a:t>
            </a:r>
            <a:r>
              <a:rPr lang="zh-TW" altLang="en-US" sz="1100" b="1" dirty="0">
                <a:solidFill>
                  <a:srgbClr val="FF0000"/>
                </a:solidFill>
              </a:rPr>
              <a:t> </a:t>
            </a:r>
            <a:r>
              <a:rPr lang="en-US" altLang="zh-TW" sz="1100" b="1" dirty="0">
                <a:solidFill>
                  <a:srgbClr val="FF0000"/>
                </a:solidFill>
              </a:rPr>
              <a:t>13759</a:t>
            </a:r>
            <a:r>
              <a:rPr lang="zh-TW" altLang="en-US" sz="1100" b="1" dirty="0">
                <a:solidFill>
                  <a:srgbClr val="FF0000"/>
                </a:solidFill>
              </a:rPr>
              <a:t>元  </a:t>
            </a:r>
            <a:r>
              <a:rPr lang="zh-TW" altLang="en-US" sz="1100" dirty="0"/>
              <a:t>交通</a:t>
            </a:r>
            <a:r>
              <a:rPr lang="en-US" altLang="zh-TW" sz="1100" dirty="0"/>
              <a:t>:</a:t>
            </a:r>
            <a:r>
              <a:rPr lang="en-US" altLang="zh-TW" sz="1100" b="1" dirty="0">
                <a:solidFill>
                  <a:srgbClr val="FF0000"/>
                </a:solidFill>
              </a:rPr>
              <a:t>20499</a:t>
            </a:r>
            <a:r>
              <a:rPr lang="zh-TW" altLang="en-US" sz="1100" b="1" dirty="0">
                <a:solidFill>
                  <a:srgbClr val="FF0000"/>
                </a:solidFill>
              </a:rPr>
              <a:t>元</a:t>
            </a:r>
            <a:endParaRPr lang="en-US" altLang="zh-TW" sz="1100" b="1" dirty="0">
              <a:solidFill>
                <a:srgbClr val="FF0000"/>
              </a:solidFill>
            </a:endParaRPr>
          </a:p>
          <a:p>
            <a:r>
              <a:rPr lang="zh-TW" altLang="en-US" sz="1100" b="1" dirty="0">
                <a:solidFill>
                  <a:srgbClr val="FF0000"/>
                </a:solidFill>
              </a:rPr>
              <a:t>北九州</a:t>
            </a:r>
            <a:r>
              <a:rPr lang="en-US" altLang="zh-TW" sz="1100" b="1" dirty="0" err="1">
                <a:solidFill>
                  <a:srgbClr val="FF0000"/>
                </a:solidFill>
              </a:rPr>
              <a:t>Jrpass</a:t>
            </a:r>
            <a:r>
              <a:rPr lang="en-US" altLang="zh-TW" sz="1100" b="1" dirty="0">
                <a:solidFill>
                  <a:srgbClr val="FF0000"/>
                </a:solidFill>
              </a:rPr>
              <a:t> 3</a:t>
            </a:r>
            <a:r>
              <a:rPr lang="zh-TW" altLang="en-US" sz="1100" b="1" dirty="0">
                <a:solidFill>
                  <a:srgbClr val="FF0000"/>
                </a:solidFill>
              </a:rPr>
              <a:t>日票    </a:t>
            </a:r>
            <a:r>
              <a:rPr lang="en-US" altLang="zh-TW" sz="1100" b="1" dirty="0">
                <a:solidFill>
                  <a:srgbClr val="FF0000"/>
                </a:solidFill>
              </a:rPr>
              <a:t>2</a:t>
            </a:r>
            <a:r>
              <a:rPr lang="zh-TW" altLang="en-US" sz="1100" b="1" dirty="0">
                <a:solidFill>
                  <a:srgbClr val="FF0000"/>
                </a:solidFill>
              </a:rPr>
              <a:t>大人</a:t>
            </a:r>
            <a:r>
              <a:rPr lang="en-US" altLang="zh-TW" sz="1100" b="1" dirty="0">
                <a:solidFill>
                  <a:srgbClr val="FF0000"/>
                </a:solidFill>
              </a:rPr>
              <a:t>4664</a:t>
            </a:r>
            <a:r>
              <a:rPr lang="zh-TW" altLang="en-US" sz="1100" b="1" dirty="0">
                <a:solidFill>
                  <a:srgbClr val="FF0000"/>
                </a:solidFill>
              </a:rPr>
              <a:t>  </a:t>
            </a:r>
            <a:r>
              <a:rPr lang="en-US" altLang="zh-TW" sz="1100" b="1" dirty="0">
                <a:solidFill>
                  <a:srgbClr val="FF0000"/>
                </a:solidFill>
              </a:rPr>
              <a:t>2</a:t>
            </a:r>
            <a:r>
              <a:rPr lang="zh-TW" altLang="en-US" sz="1100" b="1" dirty="0">
                <a:solidFill>
                  <a:srgbClr val="FF0000"/>
                </a:solidFill>
              </a:rPr>
              <a:t>小孩 </a:t>
            </a:r>
            <a:r>
              <a:rPr lang="en-US" altLang="zh-TW" sz="1100" b="1" dirty="0">
                <a:solidFill>
                  <a:srgbClr val="FF0000"/>
                </a:solidFill>
              </a:rPr>
              <a:t>2332</a:t>
            </a:r>
            <a:r>
              <a:rPr lang="zh-TW" altLang="en-US" sz="1100" b="1" dirty="0">
                <a:solidFill>
                  <a:srgbClr val="FF0000"/>
                </a:solidFill>
              </a:rPr>
              <a:t>元    </a:t>
            </a:r>
            <a:r>
              <a:rPr lang="en-US" altLang="zh-TW" sz="1100" b="1" dirty="0">
                <a:solidFill>
                  <a:srgbClr val="FF0000"/>
                </a:solidFill>
              </a:rPr>
              <a:t>5</a:t>
            </a:r>
            <a:r>
              <a:rPr lang="zh-TW" altLang="en-US" sz="1100" b="1" dirty="0">
                <a:solidFill>
                  <a:srgbClr val="FF0000"/>
                </a:solidFill>
              </a:rPr>
              <a:t>日票 </a:t>
            </a:r>
            <a:r>
              <a:rPr lang="en-US" altLang="zh-TW" sz="1100" b="1" dirty="0">
                <a:solidFill>
                  <a:srgbClr val="FF0000"/>
                </a:solidFill>
              </a:rPr>
              <a:t>2</a:t>
            </a:r>
            <a:r>
              <a:rPr lang="zh-TW" altLang="en-US" sz="1100" b="1" dirty="0">
                <a:solidFill>
                  <a:srgbClr val="FF0000"/>
                </a:solidFill>
              </a:rPr>
              <a:t>大人</a:t>
            </a:r>
            <a:r>
              <a:rPr lang="en-US" altLang="zh-TW" sz="1100" b="1" dirty="0">
                <a:solidFill>
                  <a:srgbClr val="FF0000"/>
                </a:solidFill>
              </a:rPr>
              <a:t>5486</a:t>
            </a:r>
            <a:r>
              <a:rPr lang="zh-TW" altLang="en-US" sz="1100" b="1" dirty="0">
                <a:solidFill>
                  <a:srgbClr val="FF0000"/>
                </a:solidFill>
              </a:rPr>
              <a:t>  </a:t>
            </a:r>
            <a:r>
              <a:rPr lang="en-US" altLang="zh-TW" sz="1100" b="1" dirty="0">
                <a:solidFill>
                  <a:srgbClr val="FF0000"/>
                </a:solidFill>
              </a:rPr>
              <a:t>2</a:t>
            </a:r>
            <a:r>
              <a:rPr lang="zh-TW" altLang="en-US" sz="1100" b="1" dirty="0">
                <a:solidFill>
                  <a:srgbClr val="FF0000"/>
                </a:solidFill>
              </a:rPr>
              <a:t>小孩 </a:t>
            </a:r>
            <a:r>
              <a:rPr lang="en-US" altLang="zh-TW" sz="1100" b="1" dirty="0">
                <a:solidFill>
                  <a:srgbClr val="FF0000"/>
                </a:solidFill>
              </a:rPr>
              <a:t>2744</a:t>
            </a:r>
            <a:r>
              <a:rPr lang="zh-TW" altLang="en-US" sz="1100" b="1" dirty="0">
                <a:solidFill>
                  <a:srgbClr val="FF0000"/>
                </a:solidFill>
              </a:rPr>
              <a:t>元</a:t>
            </a:r>
            <a:endParaRPr lang="en-US" altLang="zh-TW" sz="1100" b="1" dirty="0">
              <a:solidFill>
                <a:srgbClr val="FF0000"/>
              </a:solidFill>
            </a:endParaRPr>
          </a:p>
        </p:txBody>
      </p:sp>
      <p:pic>
        <p:nvPicPr>
          <p:cNvPr id="1028" name="Picture 4" descr="ãä¹å·å°åãçåçæå°çµ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" y="1088019"/>
            <a:ext cx="4802188" cy="5619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5111397" y="73615"/>
            <a:ext cx="38244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solidFill>
                  <a:srgbClr val="008000"/>
                </a:solidFill>
              </a:rPr>
              <a:t>總花費  基本食宿交通娛樂約 </a:t>
            </a:r>
            <a:r>
              <a:rPr lang="en-US" altLang="zh-TW" b="1" dirty="0">
                <a:solidFill>
                  <a:srgbClr val="008000"/>
                </a:solidFill>
              </a:rPr>
              <a:t>10</a:t>
            </a:r>
            <a:r>
              <a:rPr lang="zh-TW" altLang="en-US" b="1" dirty="0">
                <a:solidFill>
                  <a:srgbClr val="008000"/>
                </a:solidFill>
              </a:rPr>
              <a:t>萬元 </a:t>
            </a:r>
            <a:r>
              <a:rPr lang="en-US" altLang="zh-TW" b="1" dirty="0">
                <a:solidFill>
                  <a:srgbClr val="008000"/>
                </a:solidFill>
              </a:rPr>
              <a:t>+</a:t>
            </a:r>
            <a:r>
              <a:rPr lang="zh-TW" altLang="en-US" b="1" dirty="0">
                <a:solidFill>
                  <a:srgbClr val="008000"/>
                </a:solidFill>
              </a:rPr>
              <a:t> 禮物藥妝</a:t>
            </a:r>
            <a:r>
              <a:rPr lang="en-US" altLang="zh-TW" b="1" dirty="0">
                <a:solidFill>
                  <a:srgbClr val="008000"/>
                </a:solidFill>
              </a:rPr>
              <a:t>1</a:t>
            </a:r>
            <a:r>
              <a:rPr lang="zh-TW" altLang="en-US" b="1" dirty="0">
                <a:solidFill>
                  <a:srgbClr val="008000"/>
                </a:solidFill>
              </a:rPr>
              <a:t>萬元 </a:t>
            </a:r>
            <a:r>
              <a:rPr lang="en-US" altLang="zh-TW" b="1" dirty="0">
                <a:solidFill>
                  <a:srgbClr val="008000"/>
                </a:solidFill>
              </a:rPr>
              <a:t>=</a:t>
            </a:r>
            <a:r>
              <a:rPr lang="zh-TW" altLang="en-US" b="1" dirty="0">
                <a:solidFill>
                  <a:srgbClr val="008000"/>
                </a:solidFill>
              </a:rPr>
              <a:t> </a:t>
            </a:r>
            <a:r>
              <a:rPr lang="en-US" altLang="zh-TW" b="1" dirty="0">
                <a:solidFill>
                  <a:srgbClr val="008000"/>
                </a:solidFill>
              </a:rPr>
              <a:t>11</a:t>
            </a:r>
            <a:r>
              <a:rPr lang="zh-TW" altLang="en-US" b="1" dirty="0">
                <a:solidFill>
                  <a:srgbClr val="008000"/>
                </a:solidFill>
              </a:rPr>
              <a:t>萬元</a:t>
            </a:r>
            <a:endParaRPr lang="en-US" altLang="zh-TW" b="1" dirty="0">
              <a:solidFill>
                <a:srgbClr val="008000"/>
              </a:solidFill>
            </a:endParaRPr>
          </a:p>
          <a:p>
            <a:pPr algn="ctr"/>
            <a:r>
              <a:rPr lang="en-US" altLang="zh-TW" b="1" dirty="0">
                <a:solidFill>
                  <a:srgbClr val="008000"/>
                </a:solidFill>
              </a:rPr>
              <a:t>9 </a:t>
            </a:r>
            <a:r>
              <a:rPr lang="zh-TW" altLang="en-US" b="1" dirty="0">
                <a:solidFill>
                  <a:srgbClr val="008000"/>
                </a:solidFill>
              </a:rPr>
              <a:t>天旅遊 </a:t>
            </a:r>
            <a:r>
              <a:rPr lang="en-US" altLang="zh-TW" b="1" dirty="0">
                <a:solidFill>
                  <a:srgbClr val="008000"/>
                </a:solidFill>
              </a:rPr>
              <a:t>2</a:t>
            </a:r>
            <a:r>
              <a:rPr lang="zh-TW" altLang="en-US" b="1" dirty="0">
                <a:solidFill>
                  <a:srgbClr val="008000"/>
                </a:solidFill>
              </a:rPr>
              <a:t>大</a:t>
            </a:r>
            <a:r>
              <a:rPr lang="en-US" altLang="zh-TW" b="1" dirty="0">
                <a:solidFill>
                  <a:srgbClr val="008000"/>
                </a:solidFill>
              </a:rPr>
              <a:t>2</a:t>
            </a:r>
            <a:r>
              <a:rPr lang="zh-TW" altLang="en-US" b="1" dirty="0">
                <a:solidFill>
                  <a:srgbClr val="008000"/>
                </a:solidFill>
              </a:rPr>
              <a:t>小  每人約</a:t>
            </a:r>
            <a:r>
              <a:rPr lang="en-US" altLang="zh-TW" b="1" dirty="0">
                <a:solidFill>
                  <a:srgbClr val="008000"/>
                </a:solidFill>
              </a:rPr>
              <a:t>2</a:t>
            </a:r>
            <a:r>
              <a:rPr lang="zh-TW" altLang="en-US" b="1" dirty="0">
                <a:solidFill>
                  <a:srgbClr val="008000"/>
                </a:solidFill>
              </a:rPr>
              <a:t>萬</a:t>
            </a:r>
            <a:r>
              <a:rPr lang="en-US" altLang="zh-TW" b="1" dirty="0">
                <a:solidFill>
                  <a:srgbClr val="008000"/>
                </a:solidFill>
              </a:rPr>
              <a:t>8</a:t>
            </a:r>
            <a:r>
              <a:rPr lang="zh-TW" altLang="en-US" b="1" dirty="0">
                <a:solidFill>
                  <a:srgbClr val="008000"/>
                </a:solidFill>
              </a:rPr>
              <a:t>千元</a:t>
            </a:r>
            <a:endParaRPr lang="en-US" altLang="zh-TW" b="1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482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94631"/>
              </p:ext>
            </p:extLst>
          </p:nvPr>
        </p:nvGraphicFramePr>
        <p:xfrm>
          <a:off x="100738" y="129308"/>
          <a:ext cx="8995636" cy="66039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9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7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7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1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35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35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35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35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35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355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835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8355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9672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天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日期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上午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下午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住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旅館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住宿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食物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門票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車費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購物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其他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0" dirty="0">
                          <a:solidFill>
                            <a:srgbClr val="0070C0"/>
                          </a:solidFill>
                        </a:rPr>
                        <a:t>禮物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總加</a:t>
                      </a:r>
                    </a:p>
                  </a:txBody>
                  <a:tcPr marL="68580" marR="6858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3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7/27</a:t>
                      </a:r>
                    </a:p>
                    <a:p>
                      <a:pPr algn="ctr"/>
                      <a:r>
                        <a:rPr lang="zh-TW" altLang="en-US" sz="1800" dirty="0"/>
                        <a:t>六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準備出國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zh-TW" altLang="en-US" sz="1000" dirty="0"/>
                        <a:t>香草航空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1230</a:t>
                      </a:r>
                      <a:r>
                        <a:rPr lang="zh-TW" altLang="en-US" sz="1000" dirty="0"/>
                        <a:t>機場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1400</a:t>
                      </a:r>
                      <a:r>
                        <a:rPr lang="zh-TW" altLang="en-US" sz="1000" dirty="0"/>
                        <a:t>報到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1700-2020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博多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東橫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INN</a:t>
                      </a:r>
                    </a:p>
                    <a:p>
                      <a:pPr algn="ctr"/>
                      <a:r>
                        <a:rPr lang="zh-TW" altLang="en-US" sz="1000" dirty="0"/>
                        <a:t>西中州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4</a:t>
                      </a:r>
                      <a:r>
                        <a:rPr lang="zh-TW" altLang="en-US" sz="1000" dirty="0"/>
                        <a:t>人</a:t>
                      </a:r>
                      <a:r>
                        <a:rPr lang="en-US" altLang="zh-TW" sz="1000" dirty="0"/>
                        <a:t>1 </a:t>
                      </a:r>
                      <a:r>
                        <a:rPr lang="zh-TW" altLang="en-US" sz="1000" dirty="0"/>
                        <a:t>間</a:t>
                      </a:r>
                    </a:p>
                    <a:p>
                      <a:pPr algn="ctr"/>
                      <a:r>
                        <a:rPr lang="zh-TW" altLang="en-US" sz="1000" dirty="0"/>
                        <a:t>雙床 早</a:t>
                      </a:r>
                    </a:p>
                    <a:p>
                      <a:pPr algn="ctr"/>
                      <a:r>
                        <a:rPr lang="en-US" altLang="zh-TW" sz="1000" dirty="0"/>
                        <a:t>3281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午餐</a:t>
                      </a:r>
                      <a:r>
                        <a:rPr lang="en-US" altLang="zh-TW" sz="1000" dirty="0"/>
                        <a:t>645</a:t>
                      </a:r>
                    </a:p>
                    <a:p>
                      <a:pPr algn="ctr"/>
                      <a:r>
                        <a:rPr lang="zh-TW" altLang="en-US" sz="1000" dirty="0"/>
                        <a:t>晚餐</a:t>
                      </a:r>
                      <a:r>
                        <a:rPr lang="en-US" altLang="zh-TW" sz="1000" dirty="0"/>
                        <a:t>356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國光</a:t>
                      </a:r>
                      <a:r>
                        <a:rPr lang="en-US" altLang="zh-TW" sz="1000" dirty="0"/>
                        <a:t>380</a:t>
                      </a:r>
                    </a:p>
                    <a:p>
                      <a:pPr algn="ctr"/>
                      <a:r>
                        <a:rPr lang="zh-TW" altLang="en-US" sz="1000" dirty="0"/>
                        <a:t>福岡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230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機票</a:t>
                      </a:r>
                      <a:r>
                        <a:rPr lang="en-US" altLang="zh-TW" sz="1000" dirty="0"/>
                        <a:t>13496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rgbClr val="0070C0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17652</a:t>
                      </a:r>
                      <a:endParaRPr lang="zh-TW" altLang="en-US" sz="1000" dirty="0"/>
                    </a:p>
                  </a:txBody>
                  <a:tcPr marL="68580" marR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</a:t>
                      </a:r>
                      <a:endParaRPr lang="zh-TW" altLang="en-US" sz="14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7/28</a:t>
                      </a:r>
                    </a:p>
                    <a:p>
                      <a:pPr algn="ctr"/>
                      <a:r>
                        <a:rPr lang="zh-TW" altLang="en-US" sz="1400" dirty="0"/>
                        <a:t>日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JR</a:t>
                      </a:r>
                      <a:r>
                        <a:rPr lang="zh-TW" altLang="en-US" sz="1000" dirty="0"/>
                        <a:t>音速號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zh-TW" altLang="en-US" sz="1200" dirty="0"/>
                        <a:t>門司港</a:t>
                      </a:r>
                      <a:endParaRPr lang="en-US" altLang="zh-TW" sz="12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/>
                        <a:t>下關</a:t>
                      </a:r>
                      <a:endParaRPr lang="en-US" altLang="zh-TW" sz="1200" dirty="0"/>
                    </a:p>
                    <a:p>
                      <a:pPr algn="ctr"/>
                      <a:r>
                        <a:rPr lang="zh-TW" altLang="en-US" sz="1200" dirty="0"/>
                        <a:t>小倉</a:t>
                      </a:r>
                      <a:endParaRPr lang="en-US" altLang="zh-TW" sz="12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博多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/>
                        <a:t>Comfort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/>
                        <a:t>Hotel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/>
                        <a:t>博多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4</a:t>
                      </a:r>
                      <a:r>
                        <a:rPr lang="zh-TW" altLang="en-US" sz="800" dirty="0"/>
                        <a:t>人</a:t>
                      </a:r>
                      <a:r>
                        <a:rPr lang="en-US" altLang="zh-TW" sz="800" dirty="0"/>
                        <a:t>1 </a:t>
                      </a:r>
                      <a:r>
                        <a:rPr lang="zh-TW" altLang="en-US" sz="800" dirty="0"/>
                        <a:t>間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zh-TW" altLang="en-US" sz="800" dirty="0"/>
                        <a:t>雙床 早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2656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午餐</a:t>
                      </a:r>
                      <a:r>
                        <a:rPr lang="en-US" altLang="zh-TW" sz="1000" dirty="0"/>
                        <a:t>1224</a:t>
                      </a:r>
                    </a:p>
                    <a:p>
                      <a:pPr algn="ctr"/>
                      <a:r>
                        <a:rPr lang="zh-TW" altLang="en-US" sz="1000" dirty="0"/>
                        <a:t>晚餐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367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地鐵</a:t>
                      </a:r>
                      <a:r>
                        <a:rPr lang="en-US" altLang="zh-TW" sz="1000" dirty="0"/>
                        <a:t>230</a:t>
                      </a:r>
                    </a:p>
                    <a:p>
                      <a:pPr algn="ctr"/>
                      <a:r>
                        <a:rPr lang="en-US" altLang="zh-TW" sz="1000" dirty="0"/>
                        <a:t>PASS</a:t>
                      </a:r>
                    </a:p>
                    <a:p>
                      <a:pPr algn="ctr"/>
                      <a:r>
                        <a:rPr lang="en-US" altLang="zh-TW" sz="1000" dirty="0"/>
                        <a:t>6996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水果</a:t>
                      </a:r>
                      <a:r>
                        <a:rPr lang="en-US" altLang="zh-TW" sz="1000" dirty="0"/>
                        <a:t>504</a:t>
                      </a:r>
                    </a:p>
                    <a:p>
                      <a:pPr algn="ctr"/>
                      <a:r>
                        <a:rPr lang="zh-TW" altLang="en-US" sz="1000" dirty="0"/>
                        <a:t>零食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424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船票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354</a:t>
                      </a:r>
                    </a:p>
                    <a:p>
                      <a:pPr algn="ctr"/>
                      <a:r>
                        <a:rPr lang="zh-TW" altLang="en-US" sz="1000" dirty="0"/>
                        <a:t>洗衣服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134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rgbClr val="0070C0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12899</a:t>
                      </a:r>
                      <a:endParaRPr lang="zh-TW" altLang="en-US" sz="1000" dirty="0"/>
                    </a:p>
                  </a:txBody>
                  <a:tcPr marL="68580" marR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</a:t>
                      </a:r>
                      <a:endParaRPr lang="zh-TW" altLang="en-US" sz="14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7/29</a:t>
                      </a:r>
                    </a:p>
                    <a:p>
                      <a:pPr algn="ctr"/>
                      <a:r>
                        <a:rPr lang="zh-TW" altLang="en-US" sz="1400" dirty="0"/>
                        <a:t>一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JR</a:t>
                      </a:r>
                      <a:r>
                        <a:rPr lang="zh-TW" altLang="en-US" sz="1000" dirty="0"/>
                        <a:t>海鷗列車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9:15-11:24</a:t>
                      </a:r>
                      <a:r>
                        <a:rPr lang="zh-TW" altLang="en-US" sz="1000" dirty="0"/>
                        <a:t> 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長崎市區觀光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zh-TW" altLang="en-US" sz="1000" dirty="0"/>
                        <a:t>左稻山夜景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長崎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/>
                        <a:t>古歐萊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zh-TW" altLang="en-US" sz="900" dirty="0"/>
                        <a:t>站前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4</a:t>
                      </a:r>
                      <a:r>
                        <a:rPr lang="zh-TW" altLang="en-US" sz="800" dirty="0"/>
                        <a:t>人</a:t>
                      </a:r>
                      <a:r>
                        <a:rPr lang="en-US" altLang="zh-TW" sz="800" dirty="0"/>
                        <a:t>1 </a:t>
                      </a:r>
                      <a:r>
                        <a:rPr lang="zh-TW" altLang="en-US" sz="800" dirty="0"/>
                        <a:t>間</a:t>
                      </a:r>
                    </a:p>
                    <a:p>
                      <a:pPr algn="ctr"/>
                      <a:r>
                        <a:rPr lang="zh-TW" altLang="en-US" sz="800" dirty="0"/>
                        <a:t>雙床 早</a:t>
                      </a:r>
                    </a:p>
                    <a:p>
                      <a:pPr algn="ctr"/>
                      <a:r>
                        <a:rPr lang="en-US" altLang="zh-TW" sz="800" dirty="0"/>
                        <a:t>704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zh-TW" altLang="en-US" sz="800" dirty="0"/>
                        <a:t>兌換優惠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午餐</a:t>
                      </a:r>
                      <a:r>
                        <a:rPr lang="en-US" altLang="zh-TW" sz="1000" dirty="0"/>
                        <a:t>646</a:t>
                      </a:r>
                    </a:p>
                    <a:p>
                      <a:pPr algn="ctr"/>
                      <a:r>
                        <a:rPr lang="zh-TW" altLang="en-US" sz="1000" dirty="0"/>
                        <a:t>晚餐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649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原爆館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177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一日票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221</a:t>
                      </a:r>
                    </a:p>
                    <a:p>
                      <a:pPr algn="ctr"/>
                      <a:r>
                        <a:rPr lang="zh-TW" altLang="en-US" sz="1000" dirty="0"/>
                        <a:t>巴士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324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纜車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667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rgbClr val="0070C0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3388</a:t>
                      </a:r>
                      <a:endParaRPr lang="zh-TW" altLang="en-US" sz="1000" dirty="0"/>
                    </a:p>
                  </a:txBody>
                  <a:tcPr marL="68580" marR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</a:t>
                      </a:r>
                      <a:endParaRPr lang="zh-TW" altLang="en-US" sz="14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7/30</a:t>
                      </a:r>
                    </a:p>
                    <a:p>
                      <a:pPr algn="ctr"/>
                      <a:r>
                        <a:rPr lang="zh-TW" altLang="en-US" sz="1400" dirty="0"/>
                        <a:t>二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JR</a:t>
                      </a:r>
                      <a:r>
                        <a:rPr lang="zh-TW" altLang="en-US" sz="1000" dirty="0"/>
                        <a:t>海岸線列車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zh-TW" altLang="en-US" sz="1000" dirty="0"/>
                        <a:t>移動至佐世保 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九十九島</a:t>
                      </a:r>
                    </a:p>
                    <a:p>
                      <a:pPr algn="ctr"/>
                      <a:r>
                        <a:rPr lang="zh-TW" altLang="en-US" sz="1000" dirty="0"/>
                        <a:t>水族館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佐世保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/>
                        <a:t>東橫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en-US" altLang="zh-TW" sz="900" dirty="0"/>
                        <a:t>INN</a:t>
                      </a:r>
                    </a:p>
                    <a:p>
                      <a:pPr algn="ctr"/>
                      <a:r>
                        <a:rPr lang="zh-TW" altLang="en-US" sz="900" dirty="0"/>
                        <a:t>站前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4</a:t>
                      </a:r>
                      <a:r>
                        <a:rPr lang="zh-TW" altLang="en-US" sz="800" dirty="0"/>
                        <a:t>人</a:t>
                      </a:r>
                      <a:r>
                        <a:rPr lang="en-US" altLang="zh-TW" sz="800" dirty="0"/>
                        <a:t>1 </a:t>
                      </a:r>
                      <a:r>
                        <a:rPr lang="zh-TW" altLang="en-US" sz="800" dirty="0"/>
                        <a:t>間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zh-TW" altLang="en-US" sz="800" dirty="0"/>
                        <a:t>雙床 早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2926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午餐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330</a:t>
                      </a:r>
                    </a:p>
                    <a:p>
                      <a:pPr algn="ctr"/>
                      <a:r>
                        <a:rPr lang="zh-TW" altLang="en-US" sz="1000" dirty="0"/>
                        <a:t>晚餐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624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水族館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1260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公車</a:t>
                      </a:r>
                      <a:r>
                        <a:rPr lang="en-US" altLang="zh-TW" sz="1000" dirty="0"/>
                        <a:t>230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零食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1748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船票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1200</a:t>
                      </a:r>
                    </a:p>
                    <a:p>
                      <a:pPr algn="ctr"/>
                      <a:r>
                        <a:rPr lang="zh-TW" altLang="en-US" sz="1000" dirty="0"/>
                        <a:t>洗衣服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134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b="0" dirty="0">
                          <a:solidFill>
                            <a:srgbClr val="0070C0"/>
                          </a:solidFill>
                        </a:rPr>
                        <a:t>玩偶</a:t>
                      </a:r>
                      <a:endParaRPr lang="en-US" altLang="zh-TW" sz="1000" b="0" dirty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r>
                        <a:rPr lang="en-US" altLang="zh-TW" sz="1000" b="0" dirty="0">
                          <a:solidFill>
                            <a:srgbClr val="0070C0"/>
                          </a:solidFill>
                        </a:rPr>
                        <a:t>1193</a:t>
                      </a:r>
                      <a:endParaRPr lang="zh-TW" altLang="en-US" sz="1000" b="0" dirty="0">
                        <a:solidFill>
                          <a:srgbClr val="0070C0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9645</a:t>
                      </a:r>
                      <a:endParaRPr lang="zh-TW" altLang="en-US" sz="1000" dirty="0"/>
                    </a:p>
                  </a:txBody>
                  <a:tcPr marL="68580" marR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</a:t>
                      </a:r>
                      <a:endParaRPr lang="zh-TW" altLang="en-US" sz="14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7/31</a:t>
                      </a:r>
                    </a:p>
                    <a:p>
                      <a:pPr algn="ctr"/>
                      <a:r>
                        <a:rPr lang="zh-TW" altLang="en-US" sz="1400" dirty="0"/>
                        <a:t>三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豪斯登堡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豪斯登堡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佐世保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/>
                        <a:t>東橫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en-US" altLang="zh-TW" sz="900" dirty="0"/>
                        <a:t>INN</a:t>
                      </a:r>
                    </a:p>
                    <a:p>
                      <a:pPr algn="ctr"/>
                      <a:r>
                        <a:rPr lang="zh-TW" altLang="en-US" sz="900" dirty="0"/>
                        <a:t>站前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4</a:t>
                      </a:r>
                      <a:r>
                        <a:rPr lang="zh-TW" altLang="en-US" sz="800" dirty="0"/>
                        <a:t>人</a:t>
                      </a:r>
                      <a:r>
                        <a:rPr lang="en-US" altLang="zh-TW" sz="800" dirty="0"/>
                        <a:t>1 </a:t>
                      </a:r>
                      <a:r>
                        <a:rPr lang="zh-TW" altLang="en-US" sz="800" dirty="0"/>
                        <a:t>間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zh-TW" altLang="en-US" sz="800" dirty="0"/>
                        <a:t>雙床 早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2926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午餐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775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豪斯登堡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6130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PASS</a:t>
                      </a:r>
                    </a:p>
                    <a:p>
                      <a:pPr algn="ctr"/>
                      <a:r>
                        <a:rPr lang="en-US" altLang="zh-TW" sz="1000" dirty="0"/>
                        <a:t>8230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貼腳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300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rgbClr val="0070C0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18361</a:t>
                      </a:r>
                      <a:endParaRPr lang="zh-TW" altLang="en-US" sz="1000" dirty="0"/>
                    </a:p>
                  </a:txBody>
                  <a:tcPr marL="68580" marR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6</a:t>
                      </a:r>
                      <a:endParaRPr lang="zh-TW" altLang="en-US" sz="14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8/1</a:t>
                      </a:r>
                    </a:p>
                    <a:p>
                      <a:pPr algn="ctr"/>
                      <a:r>
                        <a:rPr lang="zh-TW" altLang="en-US" sz="1400" dirty="0"/>
                        <a:t>四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/>
                        <a:t>佐世保</a:t>
                      </a:r>
                      <a:r>
                        <a:rPr lang="en-US" altLang="zh-TW" sz="9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900" dirty="0">
                          <a:sym typeface="Wingdings" panose="05000000000000000000" pitchFamily="2" charset="2"/>
                        </a:rPr>
                        <a:t>博多</a:t>
                      </a:r>
                      <a:endParaRPr lang="en-US" altLang="zh-TW" sz="900" dirty="0">
                        <a:sym typeface="Wingdings" panose="05000000000000000000" pitchFamily="2" charset="2"/>
                      </a:endParaRPr>
                    </a:p>
                    <a:p>
                      <a:pPr algn="ctr"/>
                      <a:r>
                        <a:rPr lang="zh-TW" altLang="en-US" sz="900" dirty="0">
                          <a:sym typeface="Wingdings" panose="05000000000000000000" pitchFamily="2" charset="2"/>
                        </a:rPr>
                        <a:t>博多</a:t>
                      </a:r>
                      <a:r>
                        <a:rPr lang="en-US" altLang="zh-TW" sz="9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900" dirty="0">
                          <a:sym typeface="Wingdings" panose="05000000000000000000" pitchFamily="2" charset="2"/>
                        </a:rPr>
                        <a:t>大分</a:t>
                      </a:r>
                      <a:endParaRPr lang="en-US" altLang="zh-TW" sz="900" dirty="0">
                        <a:sym typeface="Wingdings" panose="05000000000000000000" pitchFamily="2" charset="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高崎動物園</a:t>
                      </a:r>
                    </a:p>
                    <a:p>
                      <a:pPr algn="ctr"/>
                      <a:r>
                        <a:rPr lang="zh-TW" altLang="en-US" sz="1000" dirty="0"/>
                        <a:t>大分水族館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大分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/>
                        <a:t>東橫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en-US" altLang="zh-TW" sz="900" dirty="0"/>
                        <a:t>INN</a:t>
                      </a:r>
                    </a:p>
                    <a:p>
                      <a:pPr algn="ctr"/>
                      <a:r>
                        <a:rPr lang="zh-TW" altLang="en-US" sz="900" dirty="0"/>
                        <a:t>站前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4</a:t>
                      </a:r>
                      <a:r>
                        <a:rPr lang="zh-TW" altLang="en-US" sz="800" dirty="0"/>
                        <a:t>人</a:t>
                      </a:r>
                      <a:r>
                        <a:rPr lang="en-US" altLang="zh-TW" sz="800" dirty="0"/>
                        <a:t>1 </a:t>
                      </a:r>
                      <a:r>
                        <a:rPr lang="zh-TW" altLang="en-US" sz="800" dirty="0"/>
                        <a:t>間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zh-TW" altLang="en-US" sz="800" dirty="0"/>
                        <a:t>雙床 早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2392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午餐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332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水族館 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zh-TW" altLang="en-US" sz="1000" dirty="0"/>
                        <a:t>動物園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2382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公車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733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零食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77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洗衣服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134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rgbClr val="0070C0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6050</a:t>
                      </a:r>
                      <a:endParaRPr lang="zh-TW" altLang="en-US" sz="1000" dirty="0"/>
                    </a:p>
                  </a:txBody>
                  <a:tcPr marL="68580" marR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7</a:t>
                      </a:r>
                      <a:endParaRPr lang="zh-TW" altLang="en-US" sz="14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8/2</a:t>
                      </a:r>
                    </a:p>
                    <a:p>
                      <a:pPr algn="ctr"/>
                      <a:r>
                        <a:rPr lang="zh-TW" altLang="en-US" sz="1400" dirty="0"/>
                        <a:t>五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九州自然野生動物園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動物園</a:t>
                      </a:r>
                      <a:endParaRPr lang="en-US" altLang="zh-TW" sz="10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別府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大分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/>
                        <a:t>東橫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en-US" altLang="zh-TW" sz="900" dirty="0"/>
                        <a:t>INN</a:t>
                      </a:r>
                    </a:p>
                    <a:p>
                      <a:pPr algn="ctr"/>
                      <a:r>
                        <a:rPr lang="zh-TW" altLang="en-US" sz="900" dirty="0"/>
                        <a:t>站前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4</a:t>
                      </a:r>
                      <a:r>
                        <a:rPr lang="zh-TW" altLang="en-US" sz="800" dirty="0"/>
                        <a:t>人</a:t>
                      </a:r>
                      <a:r>
                        <a:rPr lang="en-US" altLang="zh-TW" sz="800" dirty="0"/>
                        <a:t>1 </a:t>
                      </a:r>
                      <a:r>
                        <a:rPr lang="zh-TW" altLang="en-US" sz="800" dirty="0"/>
                        <a:t>間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zh-TW" altLang="en-US" sz="800" dirty="0"/>
                        <a:t>雙床 早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2392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午餐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862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九州動物園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3490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零食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208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動物園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328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b="0" dirty="0">
                          <a:solidFill>
                            <a:srgbClr val="0070C0"/>
                          </a:solidFill>
                        </a:rPr>
                        <a:t>玩偶</a:t>
                      </a:r>
                      <a:endParaRPr lang="en-US" altLang="zh-TW" sz="1000" b="0" dirty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r>
                        <a:rPr lang="en-US" altLang="zh-TW" sz="1000" b="0" dirty="0">
                          <a:solidFill>
                            <a:srgbClr val="0070C0"/>
                          </a:solidFill>
                        </a:rPr>
                        <a:t>474</a:t>
                      </a:r>
                      <a:endParaRPr lang="zh-TW" altLang="en-US" sz="1000" b="0" dirty="0">
                        <a:solidFill>
                          <a:srgbClr val="0070C0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7754</a:t>
                      </a:r>
                      <a:endParaRPr lang="zh-TW" altLang="en-US" sz="1000" dirty="0"/>
                    </a:p>
                  </a:txBody>
                  <a:tcPr marL="68580" marR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8</a:t>
                      </a:r>
                      <a:endParaRPr lang="zh-TW" altLang="en-US" sz="14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8/3</a:t>
                      </a:r>
                    </a:p>
                    <a:p>
                      <a:pPr algn="ctr"/>
                      <a:r>
                        <a:rPr lang="zh-TW" altLang="en-US" sz="1400" dirty="0"/>
                        <a:t>六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由布岳健行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zh-TW" altLang="en-US" sz="1000" dirty="0"/>
                        <a:t>湯布院逛街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金麟湖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zh-TW" altLang="en-US" sz="1000" dirty="0"/>
                        <a:t>由布院之森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15:50 – 17:31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博多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/>
                        <a:t>Comfort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/>
                        <a:t>Hotel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/>
                        <a:t>博多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4</a:t>
                      </a:r>
                      <a:r>
                        <a:rPr lang="zh-TW" altLang="en-US" sz="800" dirty="0"/>
                        <a:t>人</a:t>
                      </a:r>
                      <a:r>
                        <a:rPr lang="en-US" altLang="zh-TW" sz="800" dirty="0"/>
                        <a:t>1 </a:t>
                      </a:r>
                      <a:r>
                        <a:rPr lang="zh-TW" altLang="en-US" sz="800" dirty="0"/>
                        <a:t>間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zh-TW" altLang="en-US" sz="800" dirty="0"/>
                        <a:t>雙床 早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5701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午餐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735</a:t>
                      </a:r>
                    </a:p>
                    <a:p>
                      <a:pPr algn="ctr"/>
                      <a:r>
                        <a:rPr lang="zh-TW" altLang="en-US" sz="1000" dirty="0"/>
                        <a:t>晚餐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596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溫泉魚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322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公車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322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零食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338</a:t>
                      </a:r>
                    </a:p>
                    <a:p>
                      <a:pPr algn="ctr"/>
                      <a:r>
                        <a:rPr lang="zh-TW" altLang="en-US" sz="1000" dirty="0"/>
                        <a:t>蜂蜜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312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行李箱寄放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358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b="0" dirty="0">
                          <a:solidFill>
                            <a:srgbClr val="0070C0"/>
                          </a:solidFill>
                        </a:rPr>
                        <a:t>鯨魚</a:t>
                      </a:r>
                      <a:endParaRPr lang="en-US" altLang="zh-TW" sz="1000" b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r>
                        <a:rPr lang="zh-TW" altLang="en-US" sz="1000" b="0">
                          <a:solidFill>
                            <a:srgbClr val="0070C0"/>
                          </a:solidFill>
                        </a:rPr>
                        <a:t>罐頭</a:t>
                      </a:r>
                      <a:endParaRPr lang="en-US" altLang="zh-TW" sz="1000" b="0" dirty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r>
                        <a:rPr lang="en-US" altLang="zh-TW" sz="1000" b="0" dirty="0">
                          <a:solidFill>
                            <a:srgbClr val="0070C0"/>
                          </a:solidFill>
                        </a:rPr>
                        <a:t>268</a:t>
                      </a:r>
                      <a:endParaRPr lang="zh-TW" altLang="en-US" sz="1000" b="0" dirty="0">
                        <a:solidFill>
                          <a:srgbClr val="0070C0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8217</a:t>
                      </a:r>
                      <a:endParaRPr lang="zh-TW" altLang="en-US" sz="1000" dirty="0"/>
                    </a:p>
                  </a:txBody>
                  <a:tcPr marL="68580" marR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9</a:t>
                      </a:r>
                      <a:endParaRPr lang="zh-TW" altLang="en-US" sz="14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8/4</a:t>
                      </a:r>
                    </a:p>
                    <a:p>
                      <a:pPr algn="ctr"/>
                      <a:r>
                        <a:rPr lang="zh-TW" altLang="en-US" sz="1400" dirty="0"/>
                        <a:t>日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0630</a:t>
                      </a:r>
                      <a:r>
                        <a:rPr lang="zh-TW" altLang="en-US" sz="1000" dirty="0"/>
                        <a:t>機場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0730</a:t>
                      </a:r>
                      <a:r>
                        <a:rPr lang="zh-TW" altLang="en-US" sz="1000" dirty="0"/>
                        <a:t>報到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0930-1100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香草航空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zh-TW" altLang="en-US" sz="1000" dirty="0"/>
                        <a:t>整理行李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台北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8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午餐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370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公車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232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國光</a:t>
                      </a:r>
                      <a:r>
                        <a:rPr lang="en-US" altLang="zh-TW" sz="1000" dirty="0"/>
                        <a:t>380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機票</a:t>
                      </a:r>
                      <a:endParaRPr lang="en-US" altLang="zh-TW" sz="1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/>
                        <a:t>14898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b="1" dirty="0">
                          <a:solidFill>
                            <a:srgbClr val="FF0000"/>
                          </a:solidFill>
                        </a:rPr>
                        <a:t>藥妝店</a:t>
                      </a:r>
                      <a:endParaRPr lang="en-US" altLang="zh-TW" sz="10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altLang="zh-TW" sz="1000" b="1" dirty="0">
                          <a:solidFill>
                            <a:srgbClr val="FF0000"/>
                          </a:solidFill>
                        </a:rPr>
                        <a:t>8232</a:t>
                      </a:r>
                      <a:endParaRPr lang="zh-TW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15880</a:t>
                      </a:r>
                    </a:p>
                    <a:p>
                      <a:pPr algn="ctr"/>
                      <a:r>
                        <a:rPr lang="en-US" altLang="zh-TW" sz="1000" b="1" dirty="0">
                          <a:solidFill>
                            <a:srgbClr val="FF0000"/>
                          </a:solidFill>
                        </a:rPr>
                        <a:t>24112</a:t>
                      </a:r>
                      <a:endParaRPr lang="zh-TW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604026"/>
              </p:ext>
            </p:extLst>
          </p:nvPr>
        </p:nvGraphicFramePr>
        <p:xfrm>
          <a:off x="100738" y="129308"/>
          <a:ext cx="8836784" cy="66815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7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76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5271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1350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3715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672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天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日期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上午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下午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FF0000"/>
                          </a:solidFill>
                        </a:rPr>
                        <a:t>JR</a:t>
                      </a:r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車票費用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指定席 特急費用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總費用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大</a:t>
                      </a:r>
                      <a:r>
                        <a:rPr lang="en-US" altLang="zh-TW" sz="14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小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3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7/27</a:t>
                      </a:r>
                    </a:p>
                    <a:p>
                      <a:pPr algn="ctr"/>
                      <a:r>
                        <a:rPr lang="zh-TW" altLang="en-US" sz="1800" dirty="0"/>
                        <a:t>六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rgbClr val="0000CC"/>
                          </a:solidFill>
                        </a:rPr>
                        <a:t>北九州</a:t>
                      </a:r>
                      <a:r>
                        <a:rPr lang="en-US" altLang="zh-TW" sz="1200" b="1" dirty="0">
                          <a:solidFill>
                            <a:srgbClr val="0000CC"/>
                          </a:solidFill>
                        </a:rPr>
                        <a:t>JRPASS</a:t>
                      </a:r>
                      <a:endParaRPr lang="zh-TW" altLang="en-US" sz="1200" b="1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rgbClr val="0000CC"/>
                          </a:solidFill>
                        </a:rPr>
                        <a:t>三日卷</a:t>
                      </a:r>
                      <a:r>
                        <a:rPr lang="en-US" altLang="zh-TW" sz="1200" b="1" dirty="0">
                          <a:solidFill>
                            <a:srgbClr val="0000CC"/>
                          </a:solidFill>
                        </a:rPr>
                        <a:t>8500</a:t>
                      </a:r>
                      <a:r>
                        <a:rPr lang="zh-TW" altLang="en-US" sz="1200" b="1" dirty="0">
                          <a:solidFill>
                            <a:srgbClr val="0000CC"/>
                          </a:solidFill>
                        </a:rPr>
                        <a:t>日幣</a:t>
                      </a:r>
                      <a:endParaRPr lang="en-US" altLang="zh-TW" sz="1200" b="1" dirty="0">
                        <a:solidFill>
                          <a:srgbClr val="0000CC"/>
                        </a:solidFill>
                      </a:endParaRPr>
                    </a:p>
                    <a:p>
                      <a:pPr algn="ctr"/>
                      <a:r>
                        <a:rPr lang="zh-TW" altLang="en-US" sz="1200" b="1" dirty="0">
                          <a:solidFill>
                            <a:srgbClr val="0000CC"/>
                          </a:solidFill>
                        </a:rPr>
                        <a:t>五日卷 </a:t>
                      </a:r>
                      <a:r>
                        <a:rPr lang="en-US" altLang="zh-TW" sz="1200" b="1" dirty="0">
                          <a:solidFill>
                            <a:srgbClr val="0000CC"/>
                          </a:solidFill>
                        </a:rPr>
                        <a:t>10000</a:t>
                      </a:r>
                      <a:r>
                        <a:rPr lang="zh-TW" altLang="en-US" sz="1200" b="1" dirty="0">
                          <a:solidFill>
                            <a:srgbClr val="0000CC"/>
                          </a:solidFill>
                        </a:rPr>
                        <a:t>日幣</a:t>
                      </a:r>
                    </a:p>
                  </a:txBody>
                  <a:tcPr marL="68580" marR="6858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TW" sz="1200" dirty="0"/>
                    </a:p>
                  </a:txBody>
                  <a:tcPr marL="68580" marR="6858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0000CC"/>
                          </a:solidFill>
                        </a:rPr>
                        <a:t> 三日</a:t>
                      </a:r>
                      <a:r>
                        <a:rPr lang="en-US" altLang="zh-TW" sz="1400" b="1" dirty="0">
                          <a:solidFill>
                            <a:srgbClr val="0000CC"/>
                          </a:solidFill>
                        </a:rPr>
                        <a:t>+</a:t>
                      </a:r>
                      <a:r>
                        <a:rPr lang="zh-TW" altLang="en-US" sz="1400" b="1" dirty="0">
                          <a:solidFill>
                            <a:srgbClr val="0000CC"/>
                          </a:solidFill>
                        </a:rPr>
                        <a:t>五日卷  </a:t>
                      </a:r>
                      <a:r>
                        <a:rPr lang="en-US" altLang="zh-TW" sz="1400" b="1" dirty="0">
                          <a:solidFill>
                            <a:srgbClr val="0000CC"/>
                          </a:solidFill>
                        </a:rPr>
                        <a:t>55500</a:t>
                      </a:r>
                      <a:r>
                        <a:rPr lang="zh-TW" altLang="en-US" sz="1400" b="1" dirty="0">
                          <a:solidFill>
                            <a:srgbClr val="0000CC"/>
                          </a:solidFill>
                        </a:rPr>
                        <a:t>日幣</a:t>
                      </a:r>
                      <a:endParaRPr lang="en-US" altLang="zh-TW" sz="1400" b="1" dirty="0">
                        <a:solidFill>
                          <a:srgbClr val="0000CC"/>
                        </a:solidFill>
                      </a:endParaRPr>
                    </a:p>
                    <a:p>
                      <a:pPr algn="ctr"/>
                      <a:r>
                        <a:rPr lang="zh-TW" altLang="en-US" sz="1400" b="1" dirty="0">
                          <a:solidFill>
                            <a:srgbClr val="0000CC"/>
                          </a:solidFill>
                        </a:rPr>
                        <a:t>總價</a:t>
                      </a:r>
                      <a:r>
                        <a:rPr lang="en-US" altLang="zh-TW" sz="1400" b="1" dirty="0">
                          <a:solidFill>
                            <a:srgbClr val="0000CC"/>
                          </a:solidFill>
                        </a:rPr>
                        <a:t>15226</a:t>
                      </a:r>
                      <a:r>
                        <a:rPr lang="zh-TW" altLang="en-US" sz="1400" b="1" dirty="0">
                          <a:solidFill>
                            <a:srgbClr val="0000CC"/>
                          </a:solidFill>
                        </a:rPr>
                        <a:t>元</a:t>
                      </a:r>
                    </a:p>
                  </a:txBody>
                  <a:tcPr marL="68580" marR="6858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</a:t>
                      </a:r>
                      <a:endParaRPr lang="zh-TW" altLang="en-US" sz="14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7/28</a:t>
                      </a:r>
                    </a:p>
                    <a:p>
                      <a:pPr algn="ctr"/>
                      <a:r>
                        <a:rPr lang="zh-TW" altLang="en-US" sz="1400" dirty="0"/>
                        <a:t>日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JR</a:t>
                      </a:r>
                      <a:r>
                        <a:rPr lang="zh-TW" altLang="en-US" sz="1000" dirty="0"/>
                        <a:t>音速號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zh-TW" altLang="en-US" sz="1200" dirty="0"/>
                        <a:t>博多</a:t>
                      </a:r>
                      <a:r>
                        <a:rPr lang="en-US" altLang="zh-TW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1200" dirty="0"/>
                        <a:t>小倉</a:t>
                      </a:r>
                      <a:endParaRPr lang="en-US" altLang="zh-TW" sz="1200" dirty="0"/>
                    </a:p>
                    <a:p>
                      <a:pPr algn="ctr"/>
                      <a:r>
                        <a:rPr lang="zh-TW" altLang="en-US" sz="1200" dirty="0"/>
                        <a:t>小倉</a:t>
                      </a:r>
                      <a:r>
                        <a:rPr lang="en-US" altLang="zh-TW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1200" dirty="0"/>
                        <a:t>門司港</a:t>
                      </a:r>
                      <a:endParaRPr lang="en-US" altLang="zh-TW" sz="12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/>
                        <a:t>門司港</a:t>
                      </a:r>
                      <a:r>
                        <a:rPr lang="en-US" altLang="zh-TW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1200" dirty="0">
                          <a:sym typeface="Wingdings" panose="05000000000000000000" pitchFamily="2" charset="2"/>
                        </a:rPr>
                        <a:t>小倉</a:t>
                      </a:r>
                      <a:endParaRPr lang="en-US" altLang="zh-TW" sz="1200" dirty="0"/>
                    </a:p>
                    <a:p>
                      <a:pPr algn="ctr"/>
                      <a:r>
                        <a:rPr lang="zh-TW" altLang="en-US" sz="1200" dirty="0"/>
                        <a:t>小倉</a:t>
                      </a:r>
                      <a:r>
                        <a:rPr lang="en-US" altLang="zh-TW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1200" dirty="0">
                          <a:sym typeface="Wingdings" panose="05000000000000000000" pitchFamily="2" charset="2"/>
                        </a:rPr>
                        <a:t>博多</a:t>
                      </a:r>
                      <a:endParaRPr lang="en-US" altLang="zh-TW" sz="1200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/>
                        <a:t>JR</a:t>
                      </a:r>
                      <a:r>
                        <a:rPr lang="zh-TW" altLang="en-US" sz="1000" dirty="0"/>
                        <a:t>音速號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200" dirty="0"/>
                    </a:p>
                    <a:p>
                      <a:pPr algn="ctr"/>
                      <a:r>
                        <a:rPr lang="zh-TW" altLang="en-US" sz="1200" dirty="0"/>
                        <a:t>普通來回</a:t>
                      </a:r>
                      <a:endParaRPr lang="en-US" altLang="zh-TW" sz="1200" dirty="0"/>
                    </a:p>
                    <a:p>
                      <a:pPr algn="ctr"/>
                      <a:r>
                        <a:rPr lang="en-US" altLang="zh-TW" sz="1200" dirty="0"/>
                        <a:t>280+280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/>
                        <a:t>音速號來回</a:t>
                      </a:r>
                      <a:endParaRPr lang="en-US" altLang="zh-TW" sz="1200" dirty="0"/>
                    </a:p>
                    <a:p>
                      <a:pPr algn="ctr"/>
                      <a:r>
                        <a:rPr lang="en-US" altLang="zh-TW" sz="1200" dirty="0"/>
                        <a:t>2320+2320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5200</a:t>
                      </a:r>
                      <a:r>
                        <a:rPr lang="zh-TW" altLang="en-US" sz="1200" dirty="0"/>
                        <a:t>日幣</a:t>
                      </a:r>
                      <a:endParaRPr lang="en-US" altLang="zh-TW" sz="12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FF0000"/>
                          </a:solidFill>
                        </a:rPr>
                        <a:t>15600</a:t>
                      </a:r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日幣</a:t>
                      </a:r>
                      <a:endParaRPr lang="en-US" altLang="zh-TW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altLang="zh-TW" sz="1400" b="1" dirty="0">
                          <a:solidFill>
                            <a:srgbClr val="FF0000"/>
                          </a:solidFill>
                        </a:rPr>
                        <a:t>4605</a:t>
                      </a:r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台幣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</a:t>
                      </a:r>
                      <a:endParaRPr lang="zh-TW" altLang="en-US" sz="14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7/29</a:t>
                      </a:r>
                    </a:p>
                    <a:p>
                      <a:pPr algn="ctr"/>
                      <a:r>
                        <a:rPr lang="zh-TW" altLang="en-US" sz="1400" dirty="0"/>
                        <a:t>一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JR</a:t>
                      </a:r>
                      <a:r>
                        <a:rPr lang="zh-TW" altLang="en-US" sz="1000" dirty="0"/>
                        <a:t>海鷗列車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zh-TW" altLang="en-US" sz="1200" dirty="0"/>
                        <a:t>博多</a:t>
                      </a:r>
                      <a:r>
                        <a:rPr lang="en-US" altLang="zh-TW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1200" dirty="0">
                          <a:sym typeface="Wingdings" panose="05000000000000000000" pitchFamily="2" charset="2"/>
                        </a:rPr>
                        <a:t>長崎</a:t>
                      </a:r>
                      <a:endParaRPr lang="en-US" altLang="zh-TW" sz="12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2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err="1"/>
                        <a:t>kAMONE</a:t>
                      </a:r>
                      <a:endParaRPr lang="en-US" altLang="zh-TW" sz="1200" dirty="0"/>
                    </a:p>
                    <a:p>
                      <a:pPr algn="ctr"/>
                      <a:r>
                        <a:rPr lang="en-US" altLang="zh-TW" sz="1200" dirty="0"/>
                        <a:t>4710</a:t>
                      </a:r>
                      <a:endParaRPr lang="zh-TW" altLang="en-US" sz="12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4710</a:t>
                      </a:r>
                      <a:r>
                        <a:rPr lang="zh-TW" altLang="en-US" sz="1200" dirty="0"/>
                        <a:t>日幣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FF0000"/>
                          </a:solidFill>
                        </a:rPr>
                        <a:t>14130</a:t>
                      </a:r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日幣</a:t>
                      </a:r>
                      <a:endParaRPr lang="en-US" altLang="zh-TW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altLang="zh-TW" sz="1400" b="1" dirty="0">
                          <a:solidFill>
                            <a:srgbClr val="FF0000"/>
                          </a:solidFill>
                        </a:rPr>
                        <a:t>4171</a:t>
                      </a:r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台幣</a:t>
                      </a:r>
                      <a:endParaRPr lang="en-US" altLang="zh-TW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</a:t>
                      </a:r>
                      <a:endParaRPr lang="zh-TW" altLang="en-US" sz="14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7/30</a:t>
                      </a:r>
                    </a:p>
                    <a:p>
                      <a:pPr algn="ctr"/>
                      <a:r>
                        <a:rPr lang="zh-TW" altLang="en-US" sz="1400" dirty="0"/>
                        <a:t>二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JR</a:t>
                      </a:r>
                      <a:r>
                        <a:rPr lang="zh-TW" altLang="en-US" sz="1000" dirty="0"/>
                        <a:t>海岸線列車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zh-TW" altLang="en-US" sz="1200" dirty="0"/>
                        <a:t>長崎</a:t>
                      </a:r>
                      <a:r>
                        <a:rPr lang="en-US" altLang="zh-TW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1200" dirty="0">
                          <a:sym typeface="Wingdings" panose="05000000000000000000" pitchFamily="2" charset="2"/>
                        </a:rPr>
                        <a:t>佐世保</a:t>
                      </a:r>
                      <a:endParaRPr lang="en-US" altLang="zh-TW" sz="12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1650</a:t>
                      </a:r>
                      <a:endParaRPr lang="zh-TW" altLang="en-US" sz="12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1650</a:t>
                      </a:r>
                      <a:r>
                        <a:rPr lang="zh-TW" altLang="en-US" sz="1200" dirty="0"/>
                        <a:t>日幣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FF0000"/>
                          </a:solidFill>
                        </a:rPr>
                        <a:t>4950</a:t>
                      </a:r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日幣</a:t>
                      </a:r>
                      <a:endParaRPr lang="en-US" altLang="zh-TW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altLang="zh-TW" sz="1400" b="1" dirty="0">
                          <a:solidFill>
                            <a:srgbClr val="FF0000"/>
                          </a:solidFill>
                        </a:rPr>
                        <a:t>1461</a:t>
                      </a:r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台幣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</a:t>
                      </a:r>
                      <a:endParaRPr lang="zh-TW" altLang="en-US" sz="14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7/31</a:t>
                      </a:r>
                    </a:p>
                    <a:p>
                      <a:pPr algn="ctr"/>
                      <a:r>
                        <a:rPr lang="zh-TW" altLang="en-US" sz="1400" dirty="0"/>
                        <a:t>三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/>
                        <a:t>JR</a:t>
                      </a:r>
                      <a:r>
                        <a:rPr lang="zh-TW" altLang="en-US" sz="1000" dirty="0"/>
                        <a:t>海岸線列車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zh-TW" altLang="en-US" sz="1000" dirty="0"/>
                        <a:t>佐世保</a:t>
                      </a:r>
                      <a:r>
                        <a:rPr lang="en-US" altLang="zh-TW" sz="10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1000" dirty="0"/>
                        <a:t>豪斯登堡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/>
                        <a:t>JR</a:t>
                      </a:r>
                      <a:r>
                        <a:rPr lang="zh-TW" altLang="en-US" sz="1000" dirty="0"/>
                        <a:t>海岸線列車</a:t>
                      </a:r>
                      <a:endParaRPr lang="en-US" altLang="zh-TW" sz="10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豪斯登堡</a:t>
                      </a:r>
                      <a:r>
                        <a:rPr lang="en-US" altLang="zh-TW" sz="10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anose="05000000000000000000" pitchFamily="2" charset="2"/>
                        </a:rPr>
                        <a:t>佐世保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/>
                        <a:t>普通來回</a:t>
                      </a:r>
                      <a:endParaRPr lang="en-US" altLang="zh-TW" sz="1200" dirty="0"/>
                    </a:p>
                    <a:p>
                      <a:pPr algn="ctr"/>
                      <a:r>
                        <a:rPr lang="en-US" altLang="zh-TW" sz="1200" dirty="0"/>
                        <a:t>280+280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2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560</a:t>
                      </a:r>
                      <a:r>
                        <a:rPr lang="zh-TW" altLang="en-US" sz="1200" dirty="0"/>
                        <a:t>日幣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FF0000"/>
                          </a:solidFill>
                        </a:rPr>
                        <a:t>1680</a:t>
                      </a:r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日幣</a:t>
                      </a:r>
                      <a:endParaRPr lang="en-US" altLang="zh-TW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altLang="zh-TW" sz="1400" b="1" dirty="0">
                          <a:solidFill>
                            <a:srgbClr val="FF0000"/>
                          </a:solidFill>
                        </a:rPr>
                        <a:t>496</a:t>
                      </a:r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台幣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6</a:t>
                      </a:r>
                      <a:endParaRPr lang="zh-TW" altLang="en-US" sz="14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8/1</a:t>
                      </a:r>
                    </a:p>
                    <a:p>
                      <a:pPr algn="ctr"/>
                      <a:r>
                        <a:rPr lang="zh-TW" altLang="en-US" sz="1400" dirty="0"/>
                        <a:t>四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/>
                        <a:t>佐世保</a:t>
                      </a:r>
                      <a:r>
                        <a:rPr lang="en-US" altLang="zh-TW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1200" dirty="0">
                          <a:sym typeface="Wingdings" panose="05000000000000000000" pitchFamily="2" charset="2"/>
                        </a:rPr>
                        <a:t>博多</a:t>
                      </a:r>
                      <a:endParaRPr lang="en-US" altLang="zh-TW" sz="1200" dirty="0">
                        <a:sym typeface="Wingdings" panose="05000000000000000000" pitchFamily="2" charset="2"/>
                      </a:endParaRPr>
                    </a:p>
                    <a:p>
                      <a:pPr algn="ctr"/>
                      <a:r>
                        <a:rPr lang="zh-TW" altLang="en-US" sz="1200" dirty="0">
                          <a:sym typeface="Wingdings" panose="05000000000000000000" pitchFamily="2" charset="2"/>
                        </a:rPr>
                        <a:t>博多</a:t>
                      </a:r>
                      <a:r>
                        <a:rPr lang="en-US" altLang="zh-TW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1200" dirty="0">
                          <a:sym typeface="Wingdings" panose="05000000000000000000" pitchFamily="2" charset="2"/>
                        </a:rPr>
                        <a:t>大分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JR</a:t>
                      </a:r>
                      <a:r>
                        <a:rPr lang="zh-TW" altLang="en-US" sz="1200" dirty="0"/>
                        <a:t>音速號</a:t>
                      </a:r>
                      <a:endParaRPr lang="en-US" altLang="zh-TW" sz="12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200" dirty="0"/>
                    </a:p>
                    <a:p>
                      <a:pPr algn="ctr"/>
                      <a:r>
                        <a:rPr lang="en-US" altLang="zh-TW" sz="1200" dirty="0"/>
                        <a:t>3670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3880</a:t>
                      </a:r>
                    </a:p>
                    <a:p>
                      <a:pPr algn="ctr"/>
                      <a:r>
                        <a:rPr lang="en-US" altLang="zh-TW" sz="1200" dirty="0"/>
                        <a:t>1900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9450</a:t>
                      </a:r>
                      <a:r>
                        <a:rPr lang="zh-TW" altLang="en-US" sz="1200" dirty="0"/>
                        <a:t>日幣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FF0000"/>
                          </a:solidFill>
                        </a:rPr>
                        <a:t>17210</a:t>
                      </a:r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日幣</a:t>
                      </a:r>
                      <a:endParaRPr lang="en-US" altLang="zh-TW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altLang="zh-TW" sz="1400" b="1" dirty="0">
                          <a:solidFill>
                            <a:srgbClr val="FF0000"/>
                          </a:solidFill>
                        </a:rPr>
                        <a:t>5086</a:t>
                      </a:r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台幣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7</a:t>
                      </a:r>
                      <a:endParaRPr lang="zh-TW" altLang="en-US" sz="14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8/2</a:t>
                      </a:r>
                    </a:p>
                    <a:p>
                      <a:pPr algn="ctr"/>
                      <a:r>
                        <a:rPr lang="zh-TW" altLang="en-US" sz="1400" dirty="0"/>
                        <a:t>五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/>
                        <a:t>大分</a:t>
                      </a:r>
                      <a:r>
                        <a:rPr lang="en-US" altLang="zh-TW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1200" dirty="0"/>
                        <a:t>別府</a:t>
                      </a:r>
                      <a:endParaRPr lang="en-US" altLang="zh-TW" sz="12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/>
                        <a:t>JR</a:t>
                      </a:r>
                      <a:r>
                        <a:rPr lang="zh-TW" altLang="en-US" sz="1000" dirty="0"/>
                        <a:t>音速號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ym typeface="Wingdings" panose="05000000000000000000" pitchFamily="2" charset="2"/>
                        </a:rPr>
                        <a:t>別府</a:t>
                      </a:r>
                      <a:r>
                        <a:rPr lang="en-US" altLang="zh-TW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1200" dirty="0">
                          <a:sym typeface="Wingdings" panose="05000000000000000000" pitchFamily="2" charset="2"/>
                        </a:rPr>
                        <a:t>大分</a:t>
                      </a:r>
                      <a:endParaRPr lang="en-US" altLang="zh-TW" sz="12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dirty="0"/>
                        <a:t>JR</a:t>
                      </a:r>
                      <a:r>
                        <a:rPr lang="zh-TW" altLang="en-US" sz="800" dirty="0"/>
                        <a:t>音速號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280+280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280+280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1120</a:t>
                      </a:r>
                      <a:r>
                        <a:rPr lang="zh-TW" altLang="en-US" sz="1200" dirty="0"/>
                        <a:t>日幣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FF0000"/>
                          </a:solidFill>
                        </a:rPr>
                        <a:t>3360</a:t>
                      </a:r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日幣</a:t>
                      </a:r>
                      <a:endParaRPr lang="en-US" altLang="zh-TW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altLang="zh-TW" sz="1400" b="1" dirty="0">
                          <a:solidFill>
                            <a:srgbClr val="FF0000"/>
                          </a:solidFill>
                        </a:rPr>
                        <a:t>993</a:t>
                      </a:r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台幣</a:t>
                      </a:r>
                      <a:endParaRPr lang="en-US" altLang="zh-TW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8</a:t>
                      </a:r>
                      <a:endParaRPr lang="zh-TW" altLang="en-US" sz="14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8/3</a:t>
                      </a:r>
                    </a:p>
                    <a:p>
                      <a:pPr algn="ctr"/>
                      <a:r>
                        <a:rPr lang="zh-TW" altLang="en-US" sz="1400" dirty="0"/>
                        <a:t>六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/>
                        <a:t>別府</a:t>
                      </a:r>
                      <a:r>
                        <a:rPr lang="en-US" altLang="zh-TW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1200" dirty="0"/>
                        <a:t>由布院</a:t>
                      </a:r>
                      <a:endParaRPr lang="en-US" altLang="zh-TW" sz="1200" dirty="0"/>
                    </a:p>
                    <a:p>
                      <a:pPr algn="ctr"/>
                      <a:r>
                        <a:rPr lang="zh-TW" altLang="en-US" sz="1000" dirty="0"/>
                        <a:t>由布號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由布院之森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zh-TW" altLang="en-US" sz="1200" dirty="0"/>
                        <a:t>由布院</a:t>
                      </a:r>
                      <a:r>
                        <a:rPr lang="en-US" altLang="zh-TW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1200" dirty="0"/>
                        <a:t>久留米</a:t>
                      </a:r>
                      <a:endParaRPr lang="en-US" altLang="zh-TW" sz="1200" dirty="0"/>
                    </a:p>
                    <a:p>
                      <a:pPr algn="ctr"/>
                      <a:r>
                        <a:rPr lang="zh-TW" altLang="en-US" sz="1200" dirty="0"/>
                        <a:t>久留米</a:t>
                      </a:r>
                      <a:r>
                        <a:rPr lang="en-US" altLang="zh-TW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1200" dirty="0">
                          <a:sym typeface="Wingdings" panose="05000000000000000000" pitchFamily="2" charset="2"/>
                        </a:rPr>
                        <a:t>博多</a:t>
                      </a:r>
                      <a:endParaRPr lang="en-US" altLang="zh-TW" sz="1200" dirty="0">
                        <a:sym typeface="Wingdings" panose="05000000000000000000" pitchFamily="2" charset="2"/>
                      </a:endParaRPr>
                    </a:p>
                    <a:p>
                      <a:pPr algn="ctr"/>
                      <a:r>
                        <a:rPr lang="zh-TW" altLang="en-US" sz="1000" dirty="0">
                          <a:sym typeface="Wingdings" panose="05000000000000000000" pitchFamily="2" charset="2"/>
                        </a:rPr>
                        <a:t>新幹線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200" dirty="0"/>
                    </a:p>
                    <a:p>
                      <a:pPr algn="ctr"/>
                      <a:r>
                        <a:rPr lang="en-US" altLang="zh-TW" sz="1200" dirty="0"/>
                        <a:t>2810</a:t>
                      </a:r>
                    </a:p>
                    <a:p>
                      <a:pPr algn="ctr"/>
                      <a:endParaRPr lang="en-US" altLang="zh-TW" sz="1200" dirty="0"/>
                    </a:p>
                    <a:p>
                      <a:pPr algn="ctr"/>
                      <a:r>
                        <a:rPr lang="en-US" altLang="zh-TW" sz="1200" dirty="0"/>
                        <a:t>1590</a:t>
                      </a:r>
                      <a:endParaRPr lang="zh-TW" altLang="en-US" sz="12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2450</a:t>
                      </a:r>
                    </a:p>
                    <a:p>
                      <a:pPr algn="ctr"/>
                      <a:r>
                        <a:rPr lang="en-US" altLang="zh-TW" sz="1200" dirty="0"/>
                        <a:t>1750</a:t>
                      </a:r>
                    </a:p>
                    <a:p>
                      <a:pPr algn="ctr"/>
                      <a:endParaRPr lang="zh-TW" altLang="en-US" sz="12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8600</a:t>
                      </a:r>
                      <a:r>
                        <a:rPr lang="zh-TW" altLang="en-US" sz="1200" dirty="0"/>
                        <a:t>日幣</a:t>
                      </a:r>
                      <a:endParaRPr lang="en-US" altLang="zh-TW" sz="12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FF0000"/>
                          </a:solidFill>
                        </a:rPr>
                        <a:t>25800</a:t>
                      </a:r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日幣</a:t>
                      </a:r>
                      <a:endParaRPr lang="en-US" altLang="zh-TW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altLang="zh-TW" sz="1400" b="1" dirty="0">
                          <a:solidFill>
                            <a:srgbClr val="FF0000"/>
                          </a:solidFill>
                        </a:rPr>
                        <a:t>7633</a:t>
                      </a:r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台幣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9</a:t>
                      </a:r>
                      <a:endParaRPr lang="zh-TW" altLang="en-US" sz="14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8/4</a:t>
                      </a:r>
                    </a:p>
                    <a:p>
                      <a:pPr algn="ctr"/>
                      <a:r>
                        <a:rPr lang="zh-TW" altLang="en-US" sz="1400" dirty="0"/>
                        <a:t>日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200" dirty="0"/>
                    </a:p>
                  </a:txBody>
                  <a:tcPr marL="68580" marR="6858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008000"/>
                          </a:solidFill>
                        </a:rPr>
                        <a:t>不用</a:t>
                      </a:r>
                      <a:r>
                        <a:rPr lang="en-US" altLang="zh-TW" sz="1400" b="1" dirty="0">
                          <a:solidFill>
                            <a:srgbClr val="008000"/>
                          </a:solidFill>
                        </a:rPr>
                        <a:t>JRPASS</a:t>
                      </a:r>
                      <a:r>
                        <a:rPr lang="zh-TW" altLang="en-US" sz="1400" b="1" dirty="0">
                          <a:solidFill>
                            <a:srgbClr val="008000"/>
                          </a:solidFill>
                        </a:rPr>
                        <a:t>總花費 </a:t>
                      </a:r>
                      <a:r>
                        <a:rPr lang="en-US" altLang="zh-TW" sz="1400" b="1" dirty="0">
                          <a:solidFill>
                            <a:srgbClr val="008000"/>
                          </a:solidFill>
                        </a:rPr>
                        <a:t>82730</a:t>
                      </a:r>
                      <a:r>
                        <a:rPr lang="zh-TW" altLang="en-US" sz="1400" b="1" dirty="0">
                          <a:solidFill>
                            <a:srgbClr val="008000"/>
                          </a:solidFill>
                        </a:rPr>
                        <a:t>日幣</a:t>
                      </a:r>
                      <a:endParaRPr lang="en-US" altLang="zh-TW" sz="1400" b="1" dirty="0">
                        <a:solidFill>
                          <a:srgbClr val="008000"/>
                        </a:solidFill>
                      </a:endParaRPr>
                    </a:p>
                    <a:p>
                      <a:pPr algn="ctr"/>
                      <a:r>
                        <a:rPr lang="zh-TW" altLang="en-US" sz="1400" b="1" dirty="0">
                          <a:solidFill>
                            <a:srgbClr val="008000"/>
                          </a:solidFill>
                        </a:rPr>
                        <a:t>總價</a:t>
                      </a:r>
                      <a:r>
                        <a:rPr lang="en-US" altLang="zh-TW" sz="1400" b="1" dirty="0">
                          <a:solidFill>
                            <a:srgbClr val="008000"/>
                          </a:solidFill>
                        </a:rPr>
                        <a:t>24476</a:t>
                      </a:r>
                      <a:r>
                        <a:rPr lang="zh-TW" altLang="en-US" sz="1400" b="1" dirty="0">
                          <a:solidFill>
                            <a:srgbClr val="008000"/>
                          </a:solidFill>
                        </a:rPr>
                        <a:t>台幣</a:t>
                      </a:r>
                    </a:p>
                  </a:txBody>
                  <a:tcPr marL="68580" marR="6858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dirty="0"/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0307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表格 48"/>
          <p:cNvGraphicFramePr>
            <a:graphicFrameLocks noGrp="1"/>
          </p:cNvGraphicFramePr>
          <p:nvPr/>
        </p:nvGraphicFramePr>
        <p:xfrm>
          <a:off x="4807358" y="1047217"/>
          <a:ext cx="4135014" cy="5627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1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75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413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天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日期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上午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下午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住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旅館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錢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1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CC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CC"/>
                          </a:solidFill>
                        </a:rPr>
                        <a:t>6/30</a:t>
                      </a:r>
                    </a:p>
                    <a:p>
                      <a:pPr algn="ctr"/>
                      <a:r>
                        <a:rPr lang="zh-TW" altLang="en-US" sz="1400" dirty="0">
                          <a:solidFill>
                            <a:srgbClr val="0000CC"/>
                          </a:solidFill>
                        </a:rPr>
                        <a:t>日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虎航佐賀專機</a:t>
                      </a:r>
                      <a:endParaRPr lang="en-US" altLang="zh-TW" sz="1000" dirty="0"/>
                    </a:p>
                    <a:p>
                      <a:r>
                        <a:rPr lang="en-US" altLang="zh-TW" sz="1000" dirty="0"/>
                        <a:t>0700-1025</a:t>
                      </a:r>
                    </a:p>
                    <a:p>
                      <a:r>
                        <a:rPr lang="zh-TW" altLang="en-US" sz="1000" dirty="0"/>
                        <a:t>桃園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 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佐賀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佐賀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新鳥栖</a:t>
                      </a:r>
                      <a:endParaRPr lang="en-US" altLang="zh-TW" sz="1000" dirty="0">
                        <a:sym typeface="Wingdings" pitchFamily="2" charset="2"/>
                      </a:endParaRPr>
                    </a:p>
                    <a:p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鹿兒島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宮崎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宮崎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/>
                        <a:t>宮崎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zh-TW" altLang="en-US" sz="900" dirty="0"/>
                        <a:t>站前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en-US" altLang="zh-TW" sz="900" dirty="0"/>
                        <a:t>INN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2 </a:t>
                      </a:r>
                      <a:r>
                        <a:rPr lang="zh-TW" altLang="en-US" sz="800" dirty="0"/>
                        <a:t>間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2</a:t>
                      </a:r>
                      <a:r>
                        <a:rPr lang="zh-TW" altLang="en-US" sz="800" dirty="0"/>
                        <a:t>人房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zh-TW" altLang="en-US" sz="800" dirty="0"/>
                        <a:t>˙</a:t>
                      </a:r>
                      <a:r>
                        <a:rPr lang="en-US" altLang="zh-TW" sz="800" dirty="0"/>
                        <a:t>3712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CC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CC"/>
                          </a:solidFill>
                        </a:rPr>
                        <a:t>7/1</a:t>
                      </a:r>
                    </a:p>
                    <a:p>
                      <a:pPr algn="ctr"/>
                      <a:r>
                        <a:rPr lang="zh-TW" altLang="en-US" sz="1400" dirty="0">
                          <a:solidFill>
                            <a:srgbClr val="0000CC"/>
                          </a:solidFill>
                        </a:rPr>
                        <a:t>一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宮崎</a:t>
                      </a:r>
                      <a:r>
                        <a:rPr lang="en-US" altLang="zh-TW" sz="1000" dirty="0"/>
                        <a:t>—&gt;</a:t>
                      </a:r>
                      <a:r>
                        <a:rPr lang="zh-TW" altLang="en-US" sz="1000" dirty="0"/>
                        <a:t>延岡</a:t>
                      </a:r>
                      <a:endParaRPr lang="en-US" altLang="zh-TW" sz="1000" dirty="0"/>
                    </a:p>
                    <a:p>
                      <a:r>
                        <a:rPr lang="en-US" altLang="zh-TW" sz="1000" dirty="0"/>
                        <a:t>—&gt;</a:t>
                      </a:r>
                      <a:r>
                        <a:rPr lang="zh-TW" altLang="en-US" sz="1000" dirty="0"/>
                        <a:t>高千穗峽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天安河原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</a:p>
                    <a:p>
                      <a:r>
                        <a:rPr lang="zh-TW" altLang="en-US" sz="1000" dirty="0">
                          <a:sym typeface="Wingdings" pitchFamily="2" charset="2"/>
                        </a:rPr>
                        <a:t>延岡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宮崎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宮崎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/>
                        <a:t>宮崎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zh-TW" altLang="en-US" sz="900" dirty="0"/>
                        <a:t>站前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en-US" altLang="zh-TW" sz="900" dirty="0"/>
                        <a:t>INN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2 </a:t>
                      </a:r>
                      <a:r>
                        <a:rPr lang="zh-TW" altLang="en-US" sz="800" dirty="0"/>
                        <a:t>間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2</a:t>
                      </a:r>
                      <a:r>
                        <a:rPr lang="zh-TW" altLang="en-US" sz="800" dirty="0"/>
                        <a:t>人房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3712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1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CC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CC"/>
                          </a:solidFill>
                        </a:rPr>
                        <a:t>7/2</a:t>
                      </a:r>
                    </a:p>
                    <a:p>
                      <a:pPr algn="ctr"/>
                      <a:r>
                        <a:rPr lang="zh-TW" altLang="en-US" sz="1400" dirty="0">
                          <a:solidFill>
                            <a:srgbClr val="0000CC"/>
                          </a:solidFill>
                        </a:rPr>
                        <a:t>二</a:t>
                      </a:r>
                      <a:endParaRPr lang="en-US" altLang="zh-TW" sz="14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宮崎</a:t>
                      </a:r>
                      <a:r>
                        <a:rPr lang="en-US" altLang="zh-TW" sz="1000" dirty="0"/>
                        <a:t>—&gt;</a:t>
                      </a:r>
                      <a:r>
                        <a:rPr lang="zh-TW" altLang="en-US" sz="1000" dirty="0"/>
                        <a:t>青島 </a:t>
                      </a:r>
                      <a:endParaRPr lang="en-US" altLang="zh-TW" sz="1000" dirty="0"/>
                    </a:p>
                    <a:p>
                      <a:r>
                        <a:rPr lang="en-US" altLang="zh-TW" sz="1000" dirty="0"/>
                        <a:t>—&gt;</a:t>
                      </a:r>
                      <a:r>
                        <a:rPr lang="zh-TW" altLang="en-US" sz="1000" dirty="0"/>
                        <a:t>青島神社</a:t>
                      </a:r>
                      <a:endParaRPr lang="en-US" altLang="zh-TW" sz="1000" dirty="0"/>
                    </a:p>
                    <a:p>
                      <a:r>
                        <a:rPr lang="en-US" altLang="zh-TW" sz="1000" dirty="0"/>
                        <a:t>—&gt;</a:t>
                      </a:r>
                      <a:r>
                        <a:rPr lang="zh-TW" altLang="en-US" sz="1000" dirty="0"/>
                        <a:t>鵜戶神宮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—&gt;</a:t>
                      </a:r>
                      <a:r>
                        <a:rPr lang="zh-TW" altLang="en-US" sz="1000" dirty="0"/>
                        <a:t>飫肥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宮崎</a:t>
                      </a:r>
                      <a:endParaRPr lang="en-US" altLang="zh-TW" sz="1000" dirty="0">
                        <a:sym typeface="Wingdings" pitchFamily="2" charset="2"/>
                      </a:endParaRPr>
                    </a:p>
                    <a:p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鹿兒島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鹿兒島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/>
                        <a:t>鹿兒島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zh-TW" altLang="en-US" sz="900" dirty="0"/>
                        <a:t>中央站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en-US" altLang="zh-TW" sz="900" dirty="0"/>
                        <a:t>INN</a:t>
                      </a:r>
                      <a:endParaRPr lang="zh-TW" altLang="en-US" sz="9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2 </a:t>
                      </a:r>
                      <a:r>
                        <a:rPr lang="zh-TW" altLang="en-US" sz="800" dirty="0"/>
                        <a:t>間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2</a:t>
                      </a:r>
                      <a:r>
                        <a:rPr lang="zh-TW" altLang="en-US" sz="800" dirty="0"/>
                        <a:t>人房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4031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1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CC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CC"/>
                          </a:solidFill>
                        </a:rPr>
                        <a:t>7/3</a:t>
                      </a:r>
                    </a:p>
                    <a:p>
                      <a:pPr algn="ctr"/>
                      <a:r>
                        <a:rPr lang="zh-TW" altLang="en-US" sz="1400" dirty="0">
                          <a:solidFill>
                            <a:srgbClr val="0000CC"/>
                          </a:solidFill>
                        </a:rPr>
                        <a:t>三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鹿兒島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指宿</a:t>
                      </a:r>
                      <a:endParaRPr lang="en-US" altLang="zh-TW" sz="1000" dirty="0">
                        <a:sym typeface="Wingdings" pitchFamily="2" charset="2"/>
                      </a:endParaRPr>
                    </a:p>
                    <a:p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池田湖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長崎鼻龍宮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砂樂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鹿兒島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鹿兒島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/>
                        <a:t>鹿兒島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zh-TW" altLang="en-US" sz="900" dirty="0"/>
                        <a:t>中央站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en-US" altLang="zh-TW" sz="900" dirty="0"/>
                        <a:t>INN</a:t>
                      </a:r>
                      <a:endParaRPr lang="zh-TW" altLang="en-US" sz="9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2 </a:t>
                      </a:r>
                      <a:r>
                        <a:rPr lang="zh-TW" altLang="en-US" sz="800" dirty="0"/>
                        <a:t>間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2</a:t>
                      </a:r>
                      <a:r>
                        <a:rPr lang="zh-TW" altLang="en-US" sz="800" dirty="0"/>
                        <a:t>人房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4031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1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CC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CC"/>
                          </a:solidFill>
                        </a:rPr>
                        <a:t>7/4</a:t>
                      </a:r>
                    </a:p>
                    <a:p>
                      <a:pPr algn="ctr"/>
                      <a:r>
                        <a:rPr lang="zh-TW" altLang="en-US" sz="1400" dirty="0">
                          <a:solidFill>
                            <a:srgbClr val="0000CC"/>
                          </a:solidFill>
                        </a:rPr>
                        <a:t>四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鹿兒島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霧島神宮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溫泉市長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>
                          <a:sym typeface="Wingdings" pitchFamily="2" charset="2"/>
                        </a:rPr>
                        <a:t>蝦野高原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霧島神宮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鹿兒島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鹿兒島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/>
                        <a:t>鹿兒島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zh-TW" altLang="en-US" sz="900" dirty="0"/>
                        <a:t>中央站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en-US" altLang="zh-TW" sz="900" dirty="0"/>
                        <a:t>INN</a:t>
                      </a:r>
                      <a:endParaRPr lang="zh-TW" altLang="en-US" sz="9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2 </a:t>
                      </a:r>
                      <a:r>
                        <a:rPr lang="zh-TW" altLang="en-US" sz="800" dirty="0"/>
                        <a:t>間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2</a:t>
                      </a:r>
                      <a:r>
                        <a:rPr lang="zh-TW" altLang="en-US" sz="800" dirty="0"/>
                        <a:t>人房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4031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40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CC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CC"/>
                          </a:solidFill>
                        </a:rPr>
                        <a:t>7/5</a:t>
                      </a:r>
                    </a:p>
                    <a:p>
                      <a:pPr algn="ctr"/>
                      <a:r>
                        <a:rPr lang="zh-TW" altLang="en-US" sz="1400" dirty="0">
                          <a:solidFill>
                            <a:srgbClr val="0000CC"/>
                          </a:solidFill>
                        </a:rPr>
                        <a:t>五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>
                          <a:sym typeface="Wingdings" panose="05000000000000000000" pitchFamily="2" charset="2"/>
                        </a:rPr>
                        <a:t>鹿兒島</a:t>
                      </a:r>
                      <a:r>
                        <a:rPr lang="en-US" altLang="zh-TW" sz="10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anose="05000000000000000000" pitchFamily="2" charset="2"/>
                        </a:rPr>
                        <a:t>櫻島火山半日遊</a:t>
                      </a:r>
                      <a:r>
                        <a:rPr lang="en-US" altLang="zh-TW" sz="1000" dirty="0">
                          <a:sym typeface="Wingdings" panose="05000000000000000000" pitchFamily="2" charset="2"/>
                        </a:rPr>
                        <a:t>SLAND VIEW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櫻島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水族館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天文館光街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熊本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熊本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/>
                        <a:t>熊本</a:t>
                      </a:r>
                      <a:endParaRPr lang="en-US" altLang="zh-TW" sz="9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/>
                        <a:t>站前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en-US" altLang="zh-TW" sz="900" dirty="0"/>
                        <a:t>INN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2 </a:t>
                      </a:r>
                      <a:r>
                        <a:rPr lang="zh-TW" altLang="en-US" sz="800" dirty="0"/>
                        <a:t>間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2</a:t>
                      </a:r>
                      <a:r>
                        <a:rPr lang="zh-TW" altLang="en-US" sz="800" dirty="0"/>
                        <a:t>人房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3500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1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CC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CC"/>
                          </a:solidFill>
                        </a:rPr>
                        <a:t>7/6</a:t>
                      </a:r>
                    </a:p>
                    <a:p>
                      <a:pPr algn="ctr"/>
                      <a:r>
                        <a:rPr lang="zh-TW" altLang="en-US" sz="1400" dirty="0">
                          <a:solidFill>
                            <a:srgbClr val="0000CC"/>
                          </a:solidFill>
                        </a:rPr>
                        <a:t>六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熊本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阿蘇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大觀峰展望所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上色見熊野座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/>
                        <a:t>白川水源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草千里之濱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阿蘇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熊本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熊本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/>
                        <a:t>熊本</a:t>
                      </a:r>
                      <a:endParaRPr lang="en-US" altLang="zh-TW" sz="9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/>
                        <a:t>站前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en-US" altLang="zh-TW" sz="900" dirty="0"/>
                        <a:t>INN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2 </a:t>
                      </a:r>
                      <a:r>
                        <a:rPr lang="zh-TW" altLang="en-US" sz="800" dirty="0"/>
                        <a:t>間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2</a:t>
                      </a:r>
                      <a:r>
                        <a:rPr lang="zh-TW" altLang="en-US" sz="800" dirty="0"/>
                        <a:t>人房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3500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21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7/7</a:t>
                      </a:r>
                    </a:p>
                    <a:p>
                      <a:pPr algn="ctr"/>
                      <a:r>
                        <a:rPr lang="zh-TW" altLang="en-US" sz="1400" dirty="0"/>
                        <a:t>日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熊本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三角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上天草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賞海豚</a:t>
                      </a:r>
                      <a:endParaRPr lang="en-US" altLang="zh-TW" sz="1000" dirty="0">
                        <a:sym typeface="Wingdings" pitchFamily="2" charset="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購物中心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三角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熊本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熊本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/>
                        <a:t>熊本</a:t>
                      </a:r>
                      <a:endParaRPr lang="en-US" altLang="zh-TW" sz="9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/>
                        <a:t>站前</a:t>
                      </a:r>
                      <a:endParaRPr lang="en-US" altLang="zh-TW" sz="900" dirty="0"/>
                    </a:p>
                    <a:p>
                      <a:pPr algn="ctr"/>
                      <a:r>
                        <a:rPr lang="en-US" altLang="zh-TW" sz="900" dirty="0"/>
                        <a:t>INN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2 </a:t>
                      </a:r>
                      <a:r>
                        <a:rPr lang="zh-TW" altLang="en-US" sz="800" dirty="0"/>
                        <a:t>間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2</a:t>
                      </a:r>
                      <a:r>
                        <a:rPr lang="zh-TW" altLang="en-US" sz="800" dirty="0"/>
                        <a:t>人房</a:t>
                      </a:r>
                      <a:endParaRPr lang="en-US" altLang="zh-TW" sz="800" dirty="0"/>
                    </a:p>
                    <a:p>
                      <a:pPr algn="ctr"/>
                      <a:r>
                        <a:rPr lang="en-US" altLang="zh-TW" sz="800" dirty="0"/>
                        <a:t>3500</a:t>
                      </a:r>
                      <a:r>
                        <a:rPr lang="zh-TW" altLang="en-US" sz="800" dirty="0"/>
                        <a:t>元</a:t>
                      </a:r>
                      <a:endParaRPr lang="en-US" altLang="zh-TW" sz="800" dirty="0"/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21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7/8</a:t>
                      </a:r>
                    </a:p>
                    <a:p>
                      <a:pPr algn="ctr"/>
                      <a:r>
                        <a:rPr lang="zh-TW" altLang="en-US" sz="1400" dirty="0"/>
                        <a:t>一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熊本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熊本城熊本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/>
                        <a:t>櫻之馬場 城彩苑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>
                          <a:sym typeface="Wingdings" pitchFamily="2" charset="2"/>
                        </a:rPr>
                        <a:t>熊部長辦公室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阿蘇熊本機場桃園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台北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台北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800" dirty="0"/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1" name="文字方塊 50"/>
          <p:cNvSpPr txBox="1"/>
          <p:nvPr/>
        </p:nvSpPr>
        <p:spPr>
          <a:xfrm>
            <a:off x="0" y="95423"/>
            <a:ext cx="4946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2024/0630-0708 / </a:t>
            </a:r>
            <a:r>
              <a:rPr lang="zh-TW" altLang="en-US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南九州 </a:t>
            </a:r>
            <a:r>
              <a:rPr lang="en-US" altLang="zh-TW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</a:t>
            </a:r>
            <a:r>
              <a:rPr lang="zh-TW" altLang="en-US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日火車 自助行程</a:t>
            </a:r>
          </a:p>
        </p:txBody>
      </p:sp>
      <p:sp>
        <p:nvSpPr>
          <p:cNvPr id="52" name="文字方塊 51"/>
          <p:cNvSpPr txBox="1"/>
          <p:nvPr/>
        </p:nvSpPr>
        <p:spPr>
          <a:xfrm>
            <a:off x="185058" y="451053"/>
            <a:ext cx="51372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00" b="1" dirty="0"/>
              <a:t>飛機</a:t>
            </a:r>
            <a:r>
              <a:rPr lang="en-US" altLang="zh-TW" sz="1100" b="1" dirty="0"/>
              <a:t>:56619</a:t>
            </a:r>
            <a:r>
              <a:rPr lang="zh-TW" altLang="en-US" sz="1100" b="1" dirty="0"/>
              <a:t>元  住宿</a:t>
            </a:r>
            <a:r>
              <a:rPr lang="en-US" altLang="zh-TW" sz="1100" b="1" dirty="0"/>
              <a:t>:8</a:t>
            </a:r>
            <a:r>
              <a:rPr lang="zh-TW" altLang="en-US" sz="1100" b="1" dirty="0"/>
              <a:t>晚</a:t>
            </a:r>
            <a:r>
              <a:rPr lang="en-US" altLang="zh-TW" sz="1100" b="1" dirty="0"/>
              <a:t>34432</a:t>
            </a:r>
            <a:r>
              <a:rPr lang="zh-TW" altLang="en-US" sz="1100" b="1" dirty="0"/>
              <a:t>元  食物</a:t>
            </a:r>
            <a:r>
              <a:rPr lang="en-US" altLang="zh-TW" sz="1100" b="1" dirty="0"/>
              <a:t>:22000</a:t>
            </a:r>
            <a:r>
              <a:rPr lang="zh-TW" altLang="en-US" sz="1100" b="1" dirty="0"/>
              <a:t>元    交通</a:t>
            </a:r>
            <a:r>
              <a:rPr lang="en-US" altLang="zh-TW" sz="1100" b="1" dirty="0"/>
              <a:t>:11000</a:t>
            </a:r>
            <a:r>
              <a:rPr lang="zh-TW" altLang="en-US" sz="1100" b="1" dirty="0"/>
              <a:t>元</a:t>
            </a:r>
            <a:r>
              <a:rPr lang="en-US" altLang="zh-TW" sz="1100" b="1" dirty="0"/>
              <a:t> </a:t>
            </a:r>
            <a:r>
              <a:rPr lang="zh-TW" altLang="en-US" sz="1100" dirty="0"/>
              <a:t>藥妝</a:t>
            </a:r>
            <a:r>
              <a:rPr lang="en-US" altLang="zh-TW" sz="1100" dirty="0"/>
              <a:t>:3500</a:t>
            </a:r>
            <a:r>
              <a:rPr lang="zh-TW" altLang="en-US" sz="1100" dirty="0"/>
              <a:t>元</a:t>
            </a:r>
            <a:endParaRPr lang="en-US" altLang="zh-TW" sz="1100" b="1" dirty="0"/>
          </a:p>
          <a:p>
            <a:r>
              <a:rPr lang="zh-TW" altLang="en-US" sz="1100" b="1" dirty="0"/>
              <a:t>全九州</a:t>
            </a:r>
            <a:r>
              <a:rPr lang="en-US" altLang="zh-TW" sz="1100" b="1" dirty="0" err="1"/>
              <a:t>Jrpass</a:t>
            </a:r>
            <a:r>
              <a:rPr lang="en-US" altLang="zh-TW" sz="1100" b="1" dirty="0"/>
              <a:t> 7</a:t>
            </a:r>
            <a:r>
              <a:rPr lang="zh-TW" altLang="en-US" sz="1100" b="1" dirty="0"/>
              <a:t>日票</a:t>
            </a:r>
            <a:r>
              <a:rPr lang="en-US" altLang="zh-TW" sz="1100" b="1" dirty="0"/>
              <a:t> 21000</a:t>
            </a:r>
            <a:r>
              <a:rPr lang="zh-TW" altLang="en-US" sz="1100" b="1" dirty="0"/>
              <a:t>元</a:t>
            </a:r>
            <a:r>
              <a:rPr lang="en-US" altLang="zh-TW" sz="1100" b="1" dirty="0"/>
              <a:t>.</a:t>
            </a:r>
            <a:r>
              <a:rPr lang="zh-TW" altLang="en-US" sz="1100" b="1" dirty="0"/>
              <a:t>  禮物紀念品</a:t>
            </a:r>
            <a:r>
              <a:rPr lang="en-US" altLang="zh-TW" sz="1100" b="1" dirty="0"/>
              <a:t>: 3500</a:t>
            </a:r>
            <a:r>
              <a:rPr lang="zh-TW" altLang="en-US" sz="1100" b="1" dirty="0"/>
              <a:t>元  </a:t>
            </a:r>
            <a:r>
              <a:rPr lang="en-US" altLang="zh-TW" sz="1100" b="1" dirty="0"/>
              <a:t> </a:t>
            </a:r>
            <a:r>
              <a:rPr lang="zh-TW" altLang="en-US" sz="1100" b="1" dirty="0"/>
              <a:t>雜費</a:t>
            </a:r>
            <a:r>
              <a:rPr lang="en-US" altLang="zh-TW" sz="1100" b="1" dirty="0"/>
              <a:t>2000</a:t>
            </a:r>
            <a:r>
              <a:rPr lang="zh-TW" altLang="en-US" sz="1100" b="1" dirty="0"/>
              <a:t>元</a:t>
            </a:r>
            <a:endParaRPr lang="en-US" altLang="zh-TW" sz="1100" b="1" dirty="0"/>
          </a:p>
        </p:txBody>
      </p:sp>
      <p:sp>
        <p:nvSpPr>
          <p:cNvPr id="2" name="矩形 1"/>
          <p:cNvSpPr/>
          <p:nvPr/>
        </p:nvSpPr>
        <p:spPr>
          <a:xfrm>
            <a:off x="5111397" y="73615"/>
            <a:ext cx="38244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solidFill>
                  <a:srgbClr val="008000"/>
                </a:solidFill>
              </a:rPr>
              <a:t>總花費  基本食宿交通娛樂約 </a:t>
            </a:r>
            <a:r>
              <a:rPr lang="en-US" altLang="zh-TW" b="1" dirty="0">
                <a:solidFill>
                  <a:srgbClr val="008000"/>
                </a:solidFill>
              </a:rPr>
              <a:t>15</a:t>
            </a:r>
            <a:r>
              <a:rPr lang="zh-TW" altLang="en-US" b="1" dirty="0">
                <a:solidFill>
                  <a:srgbClr val="008000"/>
                </a:solidFill>
              </a:rPr>
              <a:t>萬元 </a:t>
            </a:r>
            <a:r>
              <a:rPr lang="en-US" altLang="zh-TW" b="1" dirty="0">
                <a:solidFill>
                  <a:srgbClr val="008000"/>
                </a:solidFill>
              </a:rPr>
              <a:t>+</a:t>
            </a:r>
            <a:r>
              <a:rPr lang="zh-TW" altLang="en-US" b="1" dirty="0">
                <a:solidFill>
                  <a:srgbClr val="008000"/>
                </a:solidFill>
              </a:rPr>
              <a:t> 禮物藥妝雜費</a:t>
            </a:r>
            <a:r>
              <a:rPr lang="en-US" altLang="zh-TW" b="1" dirty="0">
                <a:solidFill>
                  <a:srgbClr val="008000"/>
                </a:solidFill>
              </a:rPr>
              <a:t>1</a:t>
            </a:r>
            <a:r>
              <a:rPr lang="zh-TW" altLang="en-US" b="1" dirty="0">
                <a:solidFill>
                  <a:srgbClr val="008000"/>
                </a:solidFill>
              </a:rPr>
              <a:t>萬元 </a:t>
            </a:r>
            <a:r>
              <a:rPr lang="en-US" altLang="zh-TW" b="1" dirty="0">
                <a:solidFill>
                  <a:srgbClr val="008000"/>
                </a:solidFill>
              </a:rPr>
              <a:t>=</a:t>
            </a:r>
            <a:r>
              <a:rPr lang="zh-TW" altLang="en-US" b="1" dirty="0">
                <a:solidFill>
                  <a:srgbClr val="008000"/>
                </a:solidFill>
              </a:rPr>
              <a:t> </a:t>
            </a:r>
            <a:r>
              <a:rPr lang="en-US" altLang="zh-TW" b="1" dirty="0">
                <a:solidFill>
                  <a:srgbClr val="008000"/>
                </a:solidFill>
              </a:rPr>
              <a:t>16</a:t>
            </a:r>
            <a:r>
              <a:rPr lang="zh-TW" altLang="en-US" b="1" dirty="0">
                <a:solidFill>
                  <a:srgbClr val="008000"/>
                </a:solidFill>
              </a:rPr>
              <a:t>萬元</a:t>
            </a:r>
            <a:endParaRPr lang="en-US" altLang="zh-TW" b="1" dirty="0">
              <a:solidFill>
                <a:srgbClr val="008000"/>
              </a:solidFill>
            </a:endParaRPr>
          </a:p>
          <a:p>
            <a:pPr algn="ctr"/>
            <a:r>
              <a:rPr lang="en-US" altLang="zh-TW" b="1" dirty="0">
                <a:solidFill>
                  <a:srgbClr val="008000"/>
                </a:solidFill>
              </a:rPr>
              <a:t>9 </a:t>
            </a:r>
            <a:r>
              <a:rPr lang="zh-TW" altLang="en-US" b="1" dirty="0">
                <a:solidFill>
                  <a:srgbClr val="008000"/>
                </a:solidFill>
              </a:rPr>
              <a:t>天旅遊 </a:t>
            </a:r>
            <a:r>
              <a:rPr lang="en-US" altLang="zh-TW" b="1" dirty="0">
                <a:solidFill>
                  <a:srgbClr val="008000"/>
                </a:solidFill>
              </a:rPr>
              <a:t>4</a:t>
            </a:r>
            <a:r>
              <a:rPr lang="zh-TW" altLang="en-US" b="1" dirty="0">
                <a:solidFill>
                  <a:srgbClr val="008000"/>
                </a:solidFill>
              </a:rPr>
              <a:t>人  </a:t>
            </a:r>
            <a:r>
              <a:rPr lang="zh-TW" altLang="en-US" b="1" dirty="0">
                <a:solidFill>
                  <a:srgbClr val="FF0000"/>
                </a:solidFill>
              </a:rPr>
              <a:t>每人約</a:t>
            </a:r>
            <a:r>
              <a:rPr lang="en-US" altLang="zh-TW" b="1" dirty="0">
                <a:solidFill>
                  <a:srgbClr val="FF0000"/>
                </a:solidFill>
              </a:rPr>
              <a:t>4</a:t>
            </a:r>
            <a:r>
              <a:rPr lang="zh-TW" altLang="en-US" b="1" dirty="0">
                <a:solidFill>
                  <a:srgbClr val="FF0000"/>
                </a:solidFill>
              </a:rPr>
              <a:t>萬元</a:t>
            </a:r>
            <a:endParaRPr lang="en-US" altLang="zh-TW" b="1" dirty="0">
              <a:solidFill>
                <a:srgbClr val="FF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B3D720-1140-95A7-0588-1285E2FD8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" b="12684"/>
          <a:stretch/>
        </p:blipFill>
        <p:spPr bwMode="auto">
          <a:xfrm>
            <a:off x="12060" y="952959"/>
            <a:ext cx="4761845" cy="5900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368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00738" y="139941"/>
          <a:ext cx="8926304" cy="6426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4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9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2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5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67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95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75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56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446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21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52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72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天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日期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上午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下午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住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旅館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住宿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rgbClr val="FF0000"/>
                          </a:solidFill>
                        </a:rPr>
                        <a:t>食物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rgbClr val="FF0000"/>
                          </a:solidFill>
                        </a:rPr>
                        <a:t>車費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solidFill>
                            <a:srgbClr val="FF0000"/>
                          </a:solidFill>
                        </a:rPr>
                        <a:t>門票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rgbClr val="FF0000"/>
                          </a:solidFill>
                        </a:rPr>
                        <a:t>購物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rgbClr val="FF0000"/>
                          </a:solidFill>
                        </a:rPr>
                        <a:t>其他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0" dirty="0">
                          <a:solidFill>
                            <a:srgbClr val="0070C0"/>
                          </a:solidFill>
                        </a:rPr>
                        <a:t>禮物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5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rgbClr val="0000CC"/>
                          </a:solidFill>
                        </a:rPr>
                        <a:t>1</a:t>
                      </a:r>
                      <a:endParaRPr lang="zh-TW" altLang="en-US" sz="12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rgbClr val="0000CC"/>
                          </a:solidFill>
                        </a:rPr>
                        <a:t>6/30</a:t>
                      </a:r>
                    </a:p>
                    <a:p>
                      <a:pPr algn="ctr"/>
                      <a:r>
                        <a:rPr lang="zh-TW" altLang="en-US" sz="1200" dirty="0">
                          <a:solidFill>
                            <a:srgbClr val="0000CC"/>
                          </a:solidFill>
                        </a:rPr>
                        <a:t>日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虎航佐賀專機</a:t>
                      </a:r>
                      <a:endParaRPr lang="en-US" altLang="zh-TW" sz="1000" dirty="0"/>
                    </a:p>
                    <a:p>
                      <a:r>
                        <a:rPr lang="en-US" altLang="zh-TW" sz="1000" dirty="0"/>
                        <a:t>0700</a:t>
                      </a:r>
                      <a:r>
                        <a:rPr lang="zh-TW" altLang="en-US" sz="1000" dirty="0"/>
                        <a:t>桃園</a:t>
                      </a:r>
                      <a:endParaRPr lang="en-US" altLang="zh-TW" sz="1000" dirty="0"/>
                    </a:p>
                    <a:p>
                      <a:r>
                        <a:rPr lang="en-US" altLang="zh-TW" sz="1000" dirty="0">
                          <a:sym typeface="Wingdings" pitchFamily="2" charset="2"/>
                        </a:rPr>
                        <a:t>1025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佐賀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1336</a:t>
                      </a:r>
                      <a:r>
                        <a:rPr lang="zh-TW" altLang="en-US" sz="1000" dirty="0"/>
                        <a:t>佐賀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新鳥栖</a:t>
                      </a:r>
                      <a:endParaRPr lang="en-US" altLang="zh-TW" sz="1000" dirty="0">
                        <a:sym typeface="Wingdings" pitchFamily="2" charset="2"/>
                      </a:endParaRPr>
                    </a:p>
                    <a:p>
                      <a:r>
                        <a:rPr lang="en-US" altLang="zh-TW" sz="1000" dirty="0">
                          <a:sym typeface="Wingdings" pitchFamily="2" charset="2"/>
                        </a:rPr>
                        <a:t>1537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鹿兒島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16201830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宮崎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宮崎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宮崎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zh-TW" altLang="en-US" sz="1100" dirty="0"/>
                        <a:t>站前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INN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2 </a:t>
                      </a:r>
                      <a:r>
                        <a:rPr lang="zh-TW" altLang="en-US" sz="1100" dirty="0"/>
                        <a:t>間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2</a:t>
                      </a:r>
                      <a:r>
                        <a:rPr lang="zh-TW" altLang="en-US" sz="1100" dirty="0"/>
                        <a:t>人房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zh-TW" altLang="en-US" sz="1100" dirty="0"/>
                        <a:t>˙</a:t>
                      </a:r>
                      <a:r>
                        <a:rPr lang="en-US" altLang="zh-TW" sz="1100" dirty="0"/>
                        <a:t>3712</a:t>
                      </a:r>
                      <a:r>
                        <a:rPr lang="zh-TW" altLang="en-US" sz="1100" dirty="0"/>
                        <a:t>元</a:t>
                      </a:r>
                      <a:endParaRPr lang="en-US" altLang="zh-TW" sz="11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1185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 dirty="0" err="1"/>
                        <a:t>Jrpass</a:t>
                      </a:r>
                      <a:r>
                        <a:rPr lang="en" altLang="zh-TW" sz="1000" dirty="0"/>
                        <a:t> </a:t>
                      </a:r>
                      <a:r>
                        <a:rPr lang="zh-TW" altLang="en-US" sz="1000" dirty="0"/>
                        <a:t> </a:t>
                      </a:r>
                      <a:r>
                        <a:rPr lang="en-US" altLang="zh-TW" sz="1000" dirty="0"/>
                        <a:t>21000</a:t>
                      </a:r>
                    </a:p>
                    <a:p>
                      <a:pPr algn="ctr"/>
                      <a:r>
                        <a:rPr lang="en-US" altLang="zh-TW" sz="1000" dirty="0"/>
                        <a:t>485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rgbClr val="0070C0"/>
                        </a:solidFill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rgbClr val="0000CC"/>
                          </a:solidFill>
                        </a:rPr>
                        <a:t>2</a:t>
                      </a:r>
                      <a:endParaRPr lang="zh-TW" altLang="en-US" sz="12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rgbClr val="0000CC"/>
                          </a:solidFill>
                        </a:rPr>
                        <a:t>7/1</a:t>
                      </a:r>
                    </a:p>
                    <a:p>
                      <a:pPr algn="ctr"/>
                      <a:r>
                        <a:rPr lang="zh-TW" altLang="en-US" sz="1200" dirty="0">
                          <a:solidFill>
                            <a:srgbClr val="0000CC"/>
                          </a:solidFill>
                        </a:rPr>
                        <a:t>一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0810</a:t>
                      </a:r>
                      <a:r>
                        <a:rPr lang="zh-TW" altLang="en-US" sz="1000" dirty="0"/>
                        <a:t>宮崎</a:t>
                      </a:r>
                      <a:r>
                        <a:rPr lang="en-US" altLang="zh-TW" sz="1000" dirty="0"/>
                        <a:t>—&gt;0913</a:t>
                      </a:r>
                      <a:r>
                        <a:rPr lang="zh-TW" altLang="en-US" sz="1000" dirty="0"/>
                        <a:t>延岡</a:t>
                      </a:r>
                      <a:r>
                        <a:rPr lang="en-US" altLang="zh-TW" sz="1000" dirty="0"/>
                        <a:t>0940</a:t>
                      </a:r>
                      <a:r>
                        <a:rPr lang="zh-TW" altLang="en-US" sz="1000" dirty="0"/>
                        <a:t>租車</a:t>
                      </a:r>
                      <a:r>
                        <a:rPr lang="en-US" altLang="zh-TW" sz="1000" dirty="0"/>
                        <a:t>—&gt;1100</a:t>
                      </a:r>
                      <a:r>
                        <a:rPr lang="zh-TW" altLang="en-US" sz="1000" dirty="0"/>
                        <a:t>高千穗峽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1500</a:t>
                      </a:r>
                      <a:r>
                        <a:rPr lang="zh-TW" altLang="en-US" sz="1000" dirty="0"/>
                        <a:t>天安河原</a:t>
                      </a:r>
                      <a:r>
                        <a:rPr lang="en-US" altLang="zh-TW" sz="1000" dirty="0"/>
                        <a:t>1630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1740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延岡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18191930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宮崎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宮崎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宮崎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zh-TW" altLang="en-US" sz="1100" dirty="0"/>
                        <a:t>站前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INN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2 </a:t>
                      </a:r>
                      <a:r>
                        <a:rPr lang="zh-TW" altLang="en-US" sz="1100" dirty="0"/>
                        <a:t>間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2</a:t>
                      </a:r>
                      <a:r>
                        <a:rPr lang="zh-TW" altLang="en-US" sz="1100" dirty="0"/>
                        <a:t>人房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3712</a:t>
                      </a:r>
                      <a:r>
                        <a:rPr lang="zh-TW" altLang="en-US" sz="1100" dirty="0"/>
                        <a:t>元</a:t>
                      </a:r>
                      <a:endParaRPr lang="en-US" altLang="zh-TW" sz="11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1600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租車</a:t>
                      </a:r>
                      <a:r>
                        <a:rPr lang="en-US" altLang="zh-TW" sz="1000" dirty="0"/>
                        <a:t>1800</a:t>
                      </a:r>
                    </a:p>
                    <a:p>
                      <a:pPr algn="ctr"/>
                      <a:r>
                        <a:rPr lang="zh-TW" altLang="en-US" sz="1000" dirty="0"/>
                        <a:t>停車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210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rgbClr val="0070C0"/>
                        </a:solidFill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3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rgbClr val="0000CC"/>
                          </a:solidFill>
                        </a:rPr>
                        <a:t>3</a:t>
                      </a:r>
                      <a:endParaRPr lang="zh-TW" altLang="en-US" sz="12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rgbClr val="0000CC"/>
                          </a:solidFill>
                        </a:rPr>
                        <a:t>7/2</a:t>
                      </a:r>
                    </a:p>
                    <a:p>
                      <a:pPr algn="ctr"/>
                      <a:r>
                        <a:rPr lang="zh-TW" altLang="en-US" sz="1200" dirty="0">
                          <a:solidFill>
                            <a:srgbClr val="0000CC"/>
                          </a:solidFill>
                        </a:rPr>
                        <a:t>二</a:t>
                      </a:r>
                      <a:endParaRPr lang="en-US" altLang="zh-TW" sz="12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0750</a:t>
                      </a:r>
                      <a:r>
                        <a:rPr lang="zh-TW" altLang="en-US" sz="1000" dirty="0"/>
                        <a:t>宮崎</a:t>
                      </a:r>
                      <a:r>
                        <a:rPr lang="en-US" altLang="zh-TW" sz="1000" dirty="0"/>
                        <a:t>—&gt;0820</a:t>
                      </a:r>
                      <a:r>
                        <a:rPr lang="zh-TW" altLang="en-US" sz="1000" dirty="0"/>
                        <a:t>青島</a:t>
                      </a:r>
                      <a:r>
                        <a:rPr lang="en-US" altLang="zh-TW" sz="1000" dirty="0"/>
                        <a:t>—&gt;</a:t>
                      </a:r>
                      <a:r>
                        <a:rPr lang="zh-TW" altLang="en-US" sz="1000"/>
                        <a:t>青島神社</a:t>
                      </a:r>
                      <a:r>
                        <a:rPr lang="en-US" altLang="zh-TW" sz="1000"/>
                        <a:t>1030</a:t>
                      </a:r>
                      <a:r>
                        <a:rPr lang="en-US" altLang="zh-TW" sz="1000" dirty="0"/>
                        <a:t>—&gt;1132</a:t>
                      </a:r>
                      <a:r>
                        <a:rPr lang="zh-TW" altLang="en-US" sz="1000" dirty="0"/>
                        <a:t>鵜戶神宮</a:t>
                      </a:r>
                      <a:r>
                        <a:rPr lang="en-US" altLang="zh-TW" sz="1000" dirty="0"/>
                        <a:t>1249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—&gt;1351</a:t>
                      </a:r>
                      <a:r>
                        <a:rPr lang="zh-TW" altLang="en-US" sz="1000" dirty="0"/>
                        <a:t>飫肥</a:t>
                      </a:r>
                      <a:r>
                        <a:rPr lang="en-US" altLang="zh-TW" sz="1000" dirty="0"/>
                        <a:t>1502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1621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宮崎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17351831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鹿兒島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鹿兒島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鹿兒島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zh-TW" altLang="en-US" sz="1100" dirty="0"/>
                        <a:t>中央站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INN</a:t>
                      </a:r>
                      <a:endParaRPr lang="zh-TW" altLang="en-US" sz="11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2 </a:t>
                      </a:r>
                      <a:r>
                        <a:rPr lang="zh-TW" altLang="en-US" sz="1100" dirty="0"/>
                        <a:t>間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2</a:t>
                      </a:r>
                      <a:r>
                        <a:rPr lang="zh-TW" altLang="en-US" sz="1100" dirty="0"/>
                        <a:t>人房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4031</a:t>
                      </a:r>
                      <a:r>
                        <a:rPr lang="zh-TW" altLang="en-US" sz="1100" dirty="0"/>
                        <a:t>元</a:t>
                      </a:r>
                      <a:endParaRPr lang="en-US" altLang="zh-TW" sz="11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878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2170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rgbClr val="0070C0"/>
                        </a:solidFill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rgbClr val="0000CC"/>
                          </a:solidFill>
                        </a:rPr>
                        <a:t>4</a:t>
                      </a:r>
                      <a:endParaRPr lang="zh-TW" altLang="en-US" sz="12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rgbClr val="0000CC"/>
                          </a:solidFill>
                        </a:rPr>
                        <a:t>7/3</a:t>
                      </a:r>
                    </a:p>
                    <a:p>
                      <a:pPr algn="ctr"/>
                      <a:r>
                        <a:rPr lang="zh-TW" altLang="en-US" sz="1200" dirty="0">
                          <a:solidFill>
                            <a:srgbClr val="0000CC"/>
                          </a:solidFill>
                        </a:rPr>
                        <a:t>三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0751</a:t>
                      </a:r>
                      <a:r>
                        <a:rPr lang="zh-TW" altLang="en-US" sz="1000" dirty="0"/>
                        <a:t>鹿兒島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0859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指宿租車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池田湖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蝦野高原</a:t>
                      </a:r>
                      <a:r>
                        <a:rPr lang="en-US" altLang="zh-TW" sz="1000" dirty="0"/>
                        <a:t>1600—&gt;1626</a:t>
                      </a:r>
                      <a:r>
                        <a:rPr lang="zh-TW" altLang="en-US" sz="1000" dirty="0"/>
                        <a:t>丸尾</a:t>
                      </a:r>
                      <a:r>
                        <a:rPr lang="en-US" altLang="zh-TW" sz="1000" dirty="0"/>
                        <a:t>1703—&gt;1731</a:t>
                      </a:r>
                      <a:r>
                        <a:rPr lang="zh-TW" altLang="en-US" sz="1000" dirty="0"/>
                        <a:t>霧島站</a:t>
                      </a:r>
                      <a:r>
                        <a:rPr lang="en-US" altLang="zh-TW" sz="1000" dirty="0"/>
                        <a:t>1741—&gt;1831</a:t>
                      </a:r>
                      <a:r>
                        <a:rPr lang="zh-TW" altLang="en-US" sz="1000" dirty="0"/>
                        <a:t>鹿兒島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鹿兒島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鹿兒島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zh-TW" altLang="en-US" sz="1100" dirty="0"/>
                        <a:t>中央站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INN</a:t>
                      </a:r>
                      <a:endParaRPr lang="zh-TW" altLang="en-US" sz="11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2 </a:t>
                      </a:r>
                      <a:r>
                        <a:rPr lang="zh-TW" altLang="en-US" sz="1100" dirty="0"/>
                        <a:t>間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2</a:t>
                      </a:r>
                      <a:r>
                        <a:rPr lang="zh-TW" altLang="en-US" sz="1100" dirty="0"/>
                        <a:t>人房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4031</a:t>
                      </a:r>
                      <a:r>
                        <a:rPr lang="zh-TW" altLang="en-US" sz="1100" dirty="0"/>
                        <a:t>元</a:t>
                      </a:r>
                      <a:endParaRPr lang="en-US" altLang="zh-TW" sz="11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1205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租車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1450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rgbClr val="0070C0"/>
                        </a:solidFill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rgbClr val="0000CC"/>
                          </a:solidFill>
                        </a:rPr>
                        <a:t>5</a:t>
                      </a:r>
                      <a:endParaRPr lang="zh-TW" altLang="en-US" sz="12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rgbClr val="0000CC"/>
                          </a:solidFill>
                        </a:rPr>
                        <a:t>7/4</a:t>
                      </a:r>
                    </a:p>
                    <a:p>
                      <a:pPr algn="ctr"/>
                      <a:r>
                        <a:rPr lang="zh-TW" altLang="en-US" sz="1200" dirty="0">
                          <a:solidFill>
                            <a:srgbClr val="0000CC"/>
                          </a:solidFill>
                        </a:rPr>
                        <a:t>四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0849</a:t>
                      </a:r>
                      <a:r>
                        <a:rPr lang="zh-TW" altLang="en-US" sz="1000" dirty="0"/>
                        <a:t>鹿兒島</a:t>
                      </a:r>
                      <a:r>
                        <a:rPr lang="en-US" altLang="zh-TW" sz="1000" dirty="0"/>
                        <a:t>—&gt;0930</a:t>
                      </a:r>
                      <a:r>
                        <a:rPr lang="zh-TW" altLang="en-US" sz="1000" dirty="0"/>
                        <a:t>霧島站</a:t>
                      </a:r>
                      <a:r>
                        <a:rPr lang="en-US" altLang="zh-TW" sz="1000" dirty="0"/>
                        <a:t>0951—&gt;1004</a:t>
                      </a:r>
                      <a:r>
                        <a:rPr lang="zh-TW" altLang="en-US" sz="1000" dirty="0">
                          <a:effectLst/>
                          <a:hlinkClick r:id="rId2"/>
                        </a:rPr>
                        <a:t>神宮</a:t>
                      </a:r>
                      <a:r>
                        <a:rPr lang="en-US" altLang="zh-TW" sz="1000" dirty="0"/>
                        <a:t>1109—&gt;1124</a:t>
                      </a:r>
                      <a:r>
                        <a:rPr lang="zh-TW" altLang="en-US" sz="1000" dirty="0"/>
                        <a:t>丸尾</a:t>
                      </a:r>
                      <a:r>
                        <a:rPr lang="en-US" altLang="zh-TW" sz="1000" dirty="0"/>
                        <a:t>1230—&gt;1256</a:t>
                      </a:r>
                      <a:r>
                        <a:rPr lang="zh-TW" altLang="en-US" sz="1000" dirty="0"/>
                        <a:t>蝦野高原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霧島</a:t>
                      </a:r>
                      <a:r>
                        <a:rPr lang="en-US" altLang="zh-TW" sz="1000" dirty="0"/>
                        <a:t>1342—&gt;1358</a:t>
                      </a:r>
                      <a:r>
                        <a:rPr lang="zh-TW" altLang="en-US" sz="1000" dirty="0"/>
                        <a:t>隼人</a:t>
                      </a:r>
                      <a:r>
                        <a:rPr lang="en-US" altLang="zh-TW" sz="1000" dirty="0"/>
                        <a:t>1436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1535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吉松車站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15581724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都城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18271944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鹿兒島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鹿兒島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鹿兒島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zh-TW" altLang="en-US" sz="1100" dirty="0"/>
                        <a:t>中央站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INN</a:t>
                      </a:r>
                      <a:endParaRPr lang="zh-TW" altLang="en-US" sz="11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2 </a:t>
                      </a:r>
                      <a:r>
                        <a:rPr lang="zh-TW" altLang="en-US" sz="1100" dirty="0"/>
                        <a:t>間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2</a:t>
                      </a:r>
                      <a:r>
                        <a:rPr lang="zh-TW" altLang="en-US" sz="1100" dirty="0"/>
                        <a:t>人房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4031</a:t>
                      </a:r>
                      <a:r>
                        <a:rPr lang="zh-TW" altLang="en-US" sz="1100" dirty="0"/>
                        <a:t>元</a:t>
                      </a:r>
                      <a:endParaRPr lang="en-US" altLang="zh-TW" sz="11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1141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/>
                        <a:t>1568</a:t>
                      </a:r>
                      <a:endParaRPr lang="zh-TW" altLang="en-US" sz="1000"/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rgbClr val="0000CC"/>
                          </a:solidFill>
                        </a:rPr>
                        <a:t>6</a:t>
                      </a:r>
                      <a:endParaRPr lang="zh-TW" altLang="en-US" sz="12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rgbClr val="0000CC"/>
                          </a:solidFill>
                        </a:rPr>
                        <a:t>7/5</a:t>
                      </a:r>
                    </a:p>
                    <a:p>
                      <a:pPr algn="ctr"/>
                      <a:r>
                        <a:rPr lang="zh-TW" altLang="en-US" sz="1200" dirty="0">
                          <a:solidFill>
                            <a:srgbClr val="0000CC"/>
                          </a:solidFill>
                        </a:rPr>
                        <a:t>五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>
                          <a:sym typeface="Wingdings" panose="05000000000000000000" pitchFamily="2" charset="2"/>
                        </a:rPr>
                        <a:t>0800</a:t>
                      </a:r>
                      <a:r>
                        <a:rPr lang="zh-TW" altLang="en-US" sz="1000" dirty="0">
                          <a:sym typeface="Wingdings" panose="05000000000000000000" pitchFamily="2" charset="2"/>
                        </a:rPr>
                        <a:t>鹿兒島</a:t>
                      </a:r>
                      <a:r>
                        <a:rPr lang="en-US" altLang="zh-TW" sz="10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anose="05000000000000000000" pitchFamily="2" charset="2"/>
                        </a:rPr>
                        <a:t>櫻島火山半日遊</a:t>
                      </a:r>
                      <a:r>
                        <a:rPr lang="en-US" altLang="zh-TW" sz="1000" dirty="0">
                          <a:sym typeface="Wingdings" panose="05000000000000000000" pitchFamily="2" charset="2"/>
                        </a:rPr>
                        <a:t>SLAND VIEW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櫻島</a:t>
                      </a:r>
                      <a:r>
                        <a:rPr lang="en-US" altLang="zh-TW" sz="1000" dirty="0"/>
                        <a:t>1230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水族館</a:t>
                      </a:r>
                      <a:r>
                        <a:rPr lang="en-US" altLang="zh-TW" sz="1000" dirty="0">
                          <a:sym typeface="Wingdings" pitchFamily="2" charset="2"/>
                        </a:rPr>
                        <a:t>1530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天文館光街</a:t>
                      </a:r>
                      <a:endParaRPr lang="en-US" altLang="zh-TW" sz="1000"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>
                          <a:sym typeface="Wingdings" pitchFamily="2" charset="2"/>
                        </a:rPr>
                        <a:t></a:t>
                      </a:r>
                      <a:r>
                        <a:rPr lang="zh-TW" altLang="en-US" sz="1000" dirty="0">
                          <a:sym typeface="Wingdings" pitchFamily="2" charset="2"/>
                        </a:rPr>
                        <a:t>熊本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熊本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/>
                        <a:t>熊本</a:t>
                      </a:r>
                      <a:endParaRPr lang="en-US" altLang="zh-TW" sz="11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/>
                        <a:t>站前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INN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2 </a:t>
                      </a:r>
                      <a:r>
                        <a:rPr lang="zh-TW" altLang="en-US" sz="1100" dirty="0"/>
                        <a:t>間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2</a:t>
                      </a:r>
                      <a:r>
                        <a:rPr lang="zh-TW" altLang="en-US" sz="1100" dirty="0"/>
                        <a:t>人房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3500</a:t>
                      </a:r>
                      <a:r>
                        <a:rPr lang="zh-TW" altLang="en-US" sz="1100" dirty="0"/>
                        <a:t>元</a:t>
                      </a:r>
                      <a:endParaRPr lang="en-US" altLang="zh-TW" sz="11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1660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ㄧ日票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1050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水族館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724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rgbClr val="0070C0"/>
                        </a:solidFill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rgbClr val="0000CC"/>
                          </a:solidFill>
                        </a:rPr>
                        <a:t>7</a:t>
                      </a:r>
                      <a:endParaRPr lang="zh-TW" altLang="en-US" sz="12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rgbClr val="0000CC"/>
                          </a:solidFill>
                        </a:rPr>
                        <a:t>7/6</a:t>
                      </a:r>
                    </a:p>
                    <a:p>
                      <a:pPr algn="ctr"/>
                      <a:r>
                        <a:rPr lang="zh-TW" altLang="en-US" sz="1200" dirty="0">
                          <a:solidFill>
                            <a:srgbClr val="0000CC"/>
                          </a:solidFill>
                        </a:rPr>
                        <a:t>六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/>
                        <a:t>0911</a:t>
                      </a:r>
                      <a:r>
                        <a:rPr lang="zh-TW" altLang="en-US" sz="1000" dirty="0"/>
                        <a:t>熊本</a:t>
                      </a:r>
                      <a:r>
                        <a:rPr lang="en-US" altLang="zh-TW" sz="1000" dirty="0"/>
                        <a:t>—&gt;1029</a:t>
                      </a:r>
                      <a:r>
                        <a:rPr lang="zh-TW" altLang="en-US" sz="1000" dirty="0">
                          <a:effectLst/>
                          <a:hlinkClick r:id="rId3"/>
                        </a:rPr>
                        <a:t>阿蘇</a:t>
                      </a:r>
                      <a:r>
                        <a:rPr lang="en-US" altLang="zh-TW" sz="1000" dirty="0"/>
                        <a:t>—&gt;1100 </a:t>
                      </a:r>
                      <a:r>
                        <a:rPr lang="zh-TW" altLang="en-US" sz="1000" dirty="0"/>
                        <a:t>大觀峰展望所</a:t>
                      </a:r>
                      <a:r>
                        <a:rPr lang="en-US" altLang="zh-TW" sz="1000" dirty="0"/>
                        <a:t>—&gt;1200</a:t>
                      </a:r>
                      <a:r>
                        <a:rPr lang="zh-TW" altLang="en-US" sz="1000" dirty="0"/>
                        <a:t>阿部牧場吃冰</a:t>
                      </a:r>
                      <a:r>
                        <a:rPr lang="en-US" altLang="zh-TW" sz="1000" dirty="0"/>
                        <a:t>—&gt;1330</a:t>
                      </a:r>
                      <a:r>
                        <a:rPr lang="zh-TW" altLang="en-US" sz="1000" dirty="0">
                          <a:effectLst/>
                          <a:hlinkClick r:id="rId4"/>
                        </a:rPr>
                        <a:t>上色見熊野座</a:t>
                      </a:r>
                      <a:r>
                        <a:rPr lang="zh-TW" altLang="en-US" sz="1000" dirty="0"/>
                        <a:t>神社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/>
                        <a:t>1400</a:t>
                      </a:r>
                      <a:r>
                        <a:rPr lang="zh-TW" altLang="en-US" sz="1000" dirty="0">
                          <a:effectLst/>
                          <a:hlinkClick r:id="rId5"/>
                        </a:rPr>
                        <a:t>白川水源</a:t>
                      </a:r>
                      <a:r>
                        <a:rPr lang="en-US" altLang="zh-TW" sz="1000" dirty="0"/>
                        <a:t>—&gt;1530</a:t>
                      </a:r>
                      <a:r>
                        <a:rPr lang="zh-TW" altLang="en-US" sz="1000" dirty="0"/>
                        <a:t>草千里之濱</a:t>
                      </a:r>
                      <a:r>
                        <a:rPr lang="en-US" altLang="zh-TW" sz="1000" dirty="0"/>
                        <a:t>1630—&gt;1650</a:t>
                      </a:r>
                      <a:r>
                        <a:rPr lang="zh-TW" altLang="en-US" sz="1000" dirty="0"/>
                        <a:t>阿蘇</a:t>
                      </a:r>
                      <a:r>
                        <a:rPr lang="en-US" altLang="zh-TW" sz="1000" dirty="0"/>
                        <a:t>1714—&gt;1827</a:t>
                      </a:r>
                      <a:r>
                        <a:rPr lang="zh-TW" altLang="en-US" sz="1000" dirty="0"/>
                        <a:t>熊本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熊本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/>
                        <a:t>熊本</a:t>
                      </a:r>
                      <a:endParaRPr lang="en-US" altLang="zh-TW" sz="11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/>
                        <a:t>站前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INN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2 </a:t>
                      </a:r>
                      <a:r>
                        <a:rPr lang="zh-TW" altLang="en-US" sz="1100" dirty="0"/>
                        <a:t>間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2</a:t>
                      </a:r>
                      <a:r>
                        <a:rPr lang="zh-TW" altLang="en-US" sz="1100" dirty="0"/>
                        <a:t>人房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3500</a:t>
                      </a:r>
                      <a:r>
                        <a:rPr lang="zh-TW" altLang="en-US" sz="1100" dirty="0"/>
                        <a:t>元</a:t>
                      </a:r>
                      <a:endParaRPr lang="en-US" altLang="zh-TW" sz="11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1166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租車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2156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rgbClr val="0070C0"/>
                        </a:solidFill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7/7</a:t>
                      </a:r>
                    </a:p>
                    <a:p>
                      <a:pPr algn="ctr"/>
                      <a:r>
                        <a:rPr lang="zh-TW" altLang="en-US" sz="1200" dirty="0"/>
                        <a:t>日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0806</a:t>
                      </a:r>
                      <a:r>
                        <a:rPr lang="zh-TW" altLang="en-US" sz="1000" dirty="0"/>
                        <a:t>熊本</a:t>
                      </a:r>
                      <a:r>
                        <a:rPr lang="en-US" altLang="zh-TW" sz="1000" dirty="0"/>
                        <a:t>—&gt;0858</a:t>
                      </a:r>
                      <a:r>
                        <a:rPr lang="zh-TW" altLang="en-US" sz="1000" dirty="0">
                          <a:effectLst/>
                          <a:hlinkClick r:id="rId6"/>
                        </a:rPr>
                        <a:t>三角 </a:t>
                      </a:r>
                      <a:r>
                        <a:rPr lang="en-US" altLang="zh-TW" sz="1000" dirty="0"/>
                        <a:t>—&gt;</a:t>
                      </a:r>
                      <a:r>
                        <a:rPr lang="zh-TW" altLang="en-US" sz="1000" dirty="0"/>
                        <a:t>三隅港</a:t>
                      </a:r>
                      <a:r>
                        <a:rPr lang="en-US" altLang="zh-TW" sz="1000" dirty="0"/>
                        <a:t>0910—&gt;0930</a:t>
                      </a:r>
                      <a:r>
                        <a:rPr lang="zh-TW" altLang="en-US" sz="1000" dirty="0"/>
                        <a:t>松島港</a:t>
                      </a:r>
                      <a:r>
                        <a:rPr lang="en-US" altLang="zh-TW" sz="1000" dirty="0"/>
                        <a:t>—&gt;1000</a:t>
                      </a:r>
                      <a:r>
                        <a:rPr lang="zh-TW" altLang="en-US" sz="1000" dirty="0"/>
                        <a:t>賞海豚</a:t>
                      </a:r>
                      <a:r>
                        <a:rPr lang="en-US" altLang="zh-TW" sz="1000" dirty="0"/>
                        <a:t>—&gt;1200</a:t>
                      </a:r>
                      <a:r>
                        <a:rPr lang="zh-TW" altLang="en-US" sz="1000" dirty="0"/>
                        <a:t>上天草購物中心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上天草</a:t>
                      </a:r>
                      <a:r>
                        <a:rPr lang="en-US" altLang="zh-TW" sz="1000" dirty="0"/>
                        <a:t>—&gt;</a:t>
                      </a:r>
                      <a:r>
                        <a:rPr lang="zh-TW" altLang="en-US" sz="1000" dirty="0"/>
                        <a:t>松島港</a:t>
                      </a:r>
                      <a:r>
                        <a:rPr lang="en-US" altLang="zh-TW" sz="1000" dirty="0"/>
                        <a:t>1540 —&gt;1600</a:t>
                      </a:r>
                      <a:r>
                        <a:rPr lang="zh-TW" altLang="en-US" sz="1000" dirty="0"/>
                        <a:t>三隅港</a:t>
                      </a:r>
                      <a:r>
                        <a:rPr lang="en-US" altLang="zh-TW" sz="1000" dirty="0"/>
                        <a:t>—&gt;</a:t>
                      </a:r>
                      <a:r>
                        <a:rPr lang="zh-TW" altLang="en-US" sz="1000" dirty="0"/>
                        <a:t>三角</a:t>
                      </a:r>
                      <a:r>
                        <a:rPr lang="en-US" altLang="zh-TW" sz="1000" dirty="0"/>
                        <a:t>1635—&gt;1713</a:t>
                      </a:r>
                      <a:r>
                        <a:rPr lang="zh-TW" altLang="en-US" sz="1000" dirty="0"/>
                        <a:t>熊本</a:t>
                      </a: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熊本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/>
                        <a:t>熊本</a:t>
                      </a:r>
                      <a:endParaRPr lang="en-US" altLang="zh-TW" sz="11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/>
                        <a:t>站前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INN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2 </a:t>
                      </a:r>
                      <a:r>
                        <a:rPr lang="zh-TW" altLang="en-US" sz="1100" dirty="0"/>
                        <a:t>間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2</a:t>
                      </a:r>
                      <a:r>
                        <a:rPr lang="zh-TW" altLang="en-US" sz="1100" dirty="0"/>
                        <a:t>人房</a:t>
                      </a:r>
                      <a:endParaRPr lang="en-US" altLang="zh-TW" sz="1100" dirty="0"/>
                    </a:p>
                    <a:p>
                      <a:pPr algn="ctr"/>
                      <a:r>
                        <a:rPr lang="en-US" altLang="zh-TW" sz="1100" dirty="0"/>
                        <a:t>3500</a:t>
                      </a:r>
                      <a:r>
                        <a:rPr lang="zh-TW" altLang="en-US" sz="1100" dirty="0"/>
                        <a:t>元</a:t>
                      </a:r>
                      <a:endParaRPr lang="en-US" altLang="zh-TW" sz="11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1917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熊本一日票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482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賞海豚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4000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rgbClr val="0070C0"/>
                        </a:solidFill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67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7/8</a:t>
                      </a:r>
                    </a:p>
                    <a:p>
                      <a:pPr algn="ctr"/>
                      <a:r>
                        <a:rPr lang="zh-TW" altLang="en-US" sz="1200" dirty="0"/>
                        <a:t>一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0930</a:t>
                      </a:r>
                      <a:r>
                        <a:rPr lang="zh-TW" altLang="en-US" sz="1000" dirty="0"/>
                        <a:t>熊本</a:t>
                      </a:r>
                      <a:r>
                        <a:rPr lang="en-US" altLang="zh-TW" sz="1000" dirty="0"/>
                        <a:t>—&gt;1000</a:t>
                      </a:r>
                      <a:r>
                        <a:rPr lang="zh-TW" altLang="en-US" sz="1000" dirty="0"/>
                        <a:t>熊本城</a:t>
                      </a:r>
                      <a:r>
                        <a:rPr lang="en-US" altLang="zh-TW" sz="1000" dirty="0"/>
                        <a:t>—&gt;1100</a:t>
                      </a:r>
                      <a:r>
                        <a:rPr lang="zh-TW" altLang="en-US" sz="1000" dirty="0"/>
                        <a:t>櫻之馬場城彩苑</a:t>
                      </a:r>
                      <a:r>
                        <a:rPr lang="en-US" altLang="zh-TW" sz="1000" dirty="0"/>
                        <a:t>—&gt;1200</a:t>
                      </a:r>
                      <a:r>
                        <a:rPr lang="zh-TW" altLang="en-US" sz="1000" dirty="0"/>
                        <a:t>薩利亞餐廳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1400</a:t>
                      </a:r>
                      <a:r>
                        <a:rPr lang="zh-TW" altLang="en-US" sz="1000" dirty="0"/>
                        <a:t>熊本熊部長室</a:t>
                      </a:r>
                      <a:r>
                        <a:rPr lang="en-US" altLang="zh-TW" sz="1000" dirty="0"/>
                        <a:t>—&gt;1600</a:t>
                      </a:r>
                      <a:r>
                        <a:rPr lang="zh-TW" altLang="en-US" sz="1000" dirty="0"/>
                        <a:t>阿蘇熊本機場</a:t>
                      </a:r>
                      <a:r>
                        <a:rPr lang="en-US" altLang="zh-TW" sz="1000" dirty="0"/>
                        <a:t>—&gt;1835</a:t>
                      </a:r>
                      <a:r>
                        <a:rPr lang="zh-TW" altLang="en-US" sz="1000" dirty="0"/>
                        <a:t>華航班機</a:t>
                      </a:r>
                      <a:r>
                        <a:rPr lang="en-US" altLang="zh-TW" sz="1000" dirty="0"/>
                        <a:t>—&gt;1950</a:t>
                      </a:r>
                      <a:r>
                        <a:rPr lang="zh-TW" altLang="en-US" sz="1000" dirty="0"/>
                        <a:t>桃園</a:t>
                      </a:r>
                      <a:r>
                        <a:rPr lang="en-US" altLang="zh-TW" sz="1000" dirty="0"/>
                        <a:t>—&gt;</a:t>
                      </a:r>
                      <a:r>
                        <a:rPr lang="zh-TW" altLang="en-US" sz="1000" dirty="0"/>
                        <a:t>國光</a:t>
                      </a:r>
                      <a:r>
                        <a:rPr lang="en-US" altLang="zh-TW" sz="1000" dirty="0"/>
                        <a:t>—&gt;</a:t>
                      </a:r>
                      <a:r>
                        <a:rPr lang="zh-TW" altLang="en-US" sz="1000" dirty="0"/>
                        <a:t>台北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台北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8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3762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ˇㄚ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zh-TW" altLang="en-US" sz="1000" dirty="0"/>
                        <a:t>機票</a:t>
                      </a:r>
                      <a:endParaRPr lang="en-US" altLang="zh-TW" sz="1000" dirty="0"/>
                    </a:p>
                    <a:p>
                      <a:pPr algn="ctr"/>
                      <a:r>
                        <a:rPr lang="en-US" altLang="zh-TW" sz="1000" dirty="0"/>
                        <a:t>56619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3574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國光來回票</a:t>
                      </a:r>
                      <a:endParaRPr lang="en-US" altLang="zh-TW" sz="1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/>
                        <a:t>1120</a:t>
                      </a:r>
                      <a:endParaRPr lang="zh-TW" altLang="en-US" sz="10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tx1"/>
                          </a:solidFill>
                        </a:rPr>
                        <a:t>2083</a:t>
                      </a:r>
                      <a:endParaRPr lang="zh-TW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AutoShape 4" descr="https://www.evernote.com/shard/s231/res/34436495-a022-4439-b537-baaf823a9d60"/>
          <p:cNvSpPr>
            <a:spLocks noChangeAspect="1" noChangeArrowheads="1"/>
          </p:cNvSpPr>
          <p:nvPr/>
        </p:nvSpPr>
        <p:spPr bwMode="auto">
          <a:xfrm>
            <a:off x="141288" y="-3748088"/>
            <a:ext cx="7810500" cy="78105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3460"/>
            <a:ext cx="9144000" cy="6684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2299</TotalTime>
  <Words>1860</Words>
  <Application>Microsoft Macintosh PowerPoint</Application>
  <PresentationFormat>投影片</PresentationFormat>
  <Paragraphs>764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Arial</vt:lpstr>
      <vt:lpstr>Calibri</vt:lpstr>
      <vt:lpstr>Calibri Light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林獻升蛙蛙</dc:creator>
  <cp:lastModifiedBy>林獻升</cp:lastModifiedBy>
  <cp:revision>240</cp:revision>
  <cp:lastPrinted>2018-08-03T04:32:37Z</cp:lastPrinted>
  <dcterms:created xsi:type="dcterms:W3CDTF">2018-02-28T02:38:42Z</dcterms:created>
  <dcterms:modified xsi:type="dcterms:W3CDTF">2024-07-09T14:32:02Z</dcterms:modified>
</cp:coreProperties>
</file>